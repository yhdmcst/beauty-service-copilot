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a8c12f83e54559" /><Relationship Type="http://schemas.openxmlformats.org/officeDocument/2006/relationships/extended-properties" Target="/docProps/app.xml" Id="Ra4c8c43bbfa64171" /><Relationship Type="http://schemas.openxmlformats.org/officeDocument/2006/relationships/officeDocument" Target="/ppt/presentation.xml" Id="R3f481dc43a044da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c902bf3b8d4788"/>
  </p:sldMasterIdLst>
  <p:notesMasterIdLst>
    <p:notesMasterId xmlns:r="http://schemas.openxmlformats.org/officeDocument/2006/relationships" r:id="Rfb2cd84c35094f72"/>
  </p:notesMasterIdLst>
  <p:sldIdLst>
    <p:sldId xmlns:r="http://schemas.openxmlformats.org/officeDocument/2006/relationships" id="256" r:id="Rd0a264a1e48d487c"/>
    <p:sldId xmlns:r="http://schemas.openxmlformats.org/officeDocument/2006/relationships" id="257" r:id="R206bc699bdd84f56"/>
    <p:sldId xmlns:r="http://schemas.openxmlformats.org/officeDocument/2006/relationships" id="258" r:id="Rac99405718124a6e"/>
    <p:sldId xmlns:r="http://schemas.openxmlformats.org/officeDocument/2006/relationships" id="259" r:id="R3345376c1f4b4858"/>
    <p:sldId xmlns:r="http://schemas.openxmlformats.org/officeDocument/2006/relationships" id="260" r:id="Rbe70246df0f047c0"/>
    <p:sldId xmlns:r="http://schemas.openxmlformats.org/officeDocument/2006/relationships" id="261" r:id="Rb54f2284c5e44baf"/>
    <p:sldId xmlns:r="http://schemas.openxmlformats.org/officeDocument/2006/relationships" id="262" r:id="Rd08abcd35e414b26"/>
    <p:sldId xmlns:r="http://schemas.openxmlformats.org/officeDocument/2006/relationships" id="263" r:id="R761070f9894b4127"/>
    <p:sldId xmlns:r="http://schemas.openxmlformats.org/officeDocument/2006/relationships" id="264" r:id="Rc640db4d1d6d4464"/>
    <p:sldId xmlns:r="http://schemas.openxmlformats.org/officeDocument/2006/relationships" id="265" r:id="Rcea4c43ffcc04223"/>
    <p:sldId xmlns:r="http://schemas.openxmlformats.org/officeDocument/2006/relationships" id="266" r:id="Rf6aa6dee599344b0"/>
    <p:sldId xmlns:r="http://schemas.openxmlformats.org/officeDocument/2006/relationships" id="267" r:id="R87d62425a38a42bb"/>
    <p:sldId xmlns:r="http://schemas.openxmlformats.org/officeDocument/2006/relationships" id="268" r:id="R04fd298bc5d5469b"/>
    <p:sldId xmlns:r="http://schemas.openxmlformats.org/officeDocument/2006/relationships" id="269" r:id="R7bcfd20e2c584001"/>
    <p:sldId xmlns:r="http://schemas.openxmlformats.org/officeDocument/2006/relationships" id="270" r:id="Rc97bd2723abc46b3"/>
    <p:sldId xmlns:r="http://schemas.openxmlformats.org/officeDocument/2006/relationships" id="271" r:id="Rcfdc9d434f68406d"/>
    <p:sldId xmlns:r="http://schemas.openxmlformats.org/officeDocument/2006/relationships" id="272" r:id="R0b181b9ab22c4a79"/>
    <p:sldId xmlns:r="http://schemas.openxmlformats.org/officeDocument/2006/relationships" id="273" r:id="R153edccbfd994e24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authors.xml><?xml version="1.0" encoding="utf-8"?>
<p188:authorLst xmlns:p188="http://schemas.microsoft.com/office/powerpoint/2018/8/main">
  <p188:author id="{5FB8D876-CF7A-FFDC-74D7-6CE3805B12FB}" name="ZONG Echo" initials="EZ" userId="S::echo2.zong@loreal.com::a4606cd9-98cc-4fff-8532-d79a801fde2c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c6e136b2ba441d" /><Relationship Type="http://schemas.openxmlformats.org/officeDocument/2006/relationships/slideMaster" Target="/ppt/slideMasters/slideMaster1.xml" Id="R92c902bf3b8d4788" /><Relationship Type="http://schemas.openxmlformats.org/officeDocument/2006/relationships/notesMaster" Target="/ppt/notesMasters/notesMaster1.xml" Id="Rfb2cd84c35094f72" /><Relationship Type="http://schemas.openxmlformats.org/officeDocument/2006/relationships/presProps" Target="/ppt/presProps.xml" Id="Rdfac5dbe904b496f" /><Relationship Type="http://schemas.openxmlformats.org/officeDocument/2006/relationships/viewProps" Target="/ppt/viewProps.xml" Id="Rbd07a5414abb47f9" /><Relationship Type="http://schemas.openxmlformats.org/officeDocument/2006/relationships/tableStyles" Target="/ppt/tableStyles.xml" Id="Raee9b352dc244d39" /><Relationship Type="http://schemas.microsoft.com/office/2018/10/relationships/authors" Target="/ppt/authors.xml" Id="R94116310fb504b1e" /><Relationship Type="http://schemas.openxmlformats.org/officeDocument/2006/relationships/slide" Target="/ppt/slides/slide1.xml" Id="Rd0a264a1e48d487c" /><Relationship Type="http://schemas.openxmlformats.org/officeDocument/2006/relationships/slide" Target="/ppt/slides/slide2.xml" Id="R206bc699bdd84f56" /><Relationship Type="http://schemas.openxmlformats.org/officeDocument/2006/relationships/slide" Target="/ppt/slides/slide3.xml" Id="Rac99405718124a6e" /><Relationship Type="http://schemas.openxmlformats.org/officeDocument/2006/relationships/slide" Target="/ppt/slides/slide4.xml" Id="R3345376c1f4b4858" /><Relationship Type="http://schemas.openxmlformats.org/officeDocument/2006/relationships/slide" Target="/ppt/slides/slide5.xml" Id="Rbe70246df0f047c0" /><Relationship Type="http://schemas.openxmlformats.org/officeDocument/2006/relationships/slide" Target="/ppt/slides/slide6.xml" Id="Rb54f2284c5e44baf" /><Relationship Type="http://schemas.openxmlformats.org/officeDocument/2006/relationships/slide" Target="/ppt/slides/slide7.xml" Id="Rd08abcd35e414b26" /><Relationship Type="http://schemas.openxmlformats.org/officeDocument/2006/relationships/slide" Target="/ppt/slides/slide8.xml" Id="R761070f9894b4127" /><Relationship Type="http://schemas.openxmlformats.org/officeDocument/2006/relationships/slide" Target="/ppt/slides/slide9.xml" Id="Rc640db4d1d6d4464" /><Relationship Type="http://schemas.openxmlformats.org/officeDocument/2006/relationships/slide" Target="/ppt/slides/slide10.xml" Id="Rcea4c43ffcc04223" /><Relationship Type="http://schemas.openxmlformats.org/officeDocument/2006/relationships/slide" Target="/ppt/slides/slide11.xml" Id="Rf6aa6dee599344b0" /><Relationship Type="http://schemas.openxmlformats.org/officeDocument/2006/relationships/slide" Target="/ppt/slides/slide12.xml" Id="R87d62425a38a42bb" /><Relationship Type="http://schemas.openxmlformats.org/officeDocument/2006/relationships/slide" Target="/ppt/slides/slide13.xml" Id="R04fd298bc5d5469b" /><Relationship Type="http://schemas.openxmlformats.org/officeDocument/2006/relationships/slide" Target="/ppt/slides/slide14.xml" Id="R7bcfd20e2c584001" /><Relationship Type="http://schemas.openxmlformats.org/officeDocument/2006/relationships/slide" Target="/ppt/slides/slide15.xml" Id="Rc97bd2723abc46b3" /><Relationship Type="http://schemas.openxmlformats.org/officeDocument/2006/relationships/slide" Target="/ppt/slides/slide16.xml" Id="Rcfdc9d434f68406d" /><Relationship Type="http://schemas.openxmlformats.org/officeDocument/2006/relationships/slide" Target="/ppt/slides/slide17.xml" Id="R0b181b9ab22c4a79" /><Relationship Type="http://schemas.openxmlformats.org/officeDocument/2006/relationships/slide" Target="/ppt/slides/slide18.xml" Id="R153edccbfd994e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f2debe640c745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702088af654894" /><Relationship Type="http://schemas.openxmlformats.org/officeDocument/2006/relationships/notesMaster" Target="/ppt/notesMasters/notesMaster1.xml" Id="Rb823f85a80ac47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a491ab62ed4b48" /><Relationship Type="http://schemas.openxmlformats.org/officeDocument/2006/relationships/notesMaster" Target="/ppt/notesMasters/notesMaster1.xml" Id="Ra919889824a446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4a9d4ee1044844" /><Relationship Type="http://schemas.openxmlformats.org/officeDocument/2006/relationships/notesMaster" Target="/ppt/notesMasters/notesMaster1.xml" Id="R0f909f1ca83641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4e8c2c589694ad1" /><Relationship Type="http://schemas.openxmlformats.org/officeDocument/2006/relationships/notesMaster" Target="/ppt/notesMasters/notesMaster1.xml" Id="Rd8f9c1f72bc143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4c621d722d41f6" /><Relationship Type="http://schemas.openxmlformats.org/officeDocument/2006/relationships/notesMaster" Target="/ppt/notesMasters/notesMaster1.xml" Id="Rbef82060aeaf4e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2984f459254146" /><Relationship Type="http://schemas.openxmlformats.org/officeDocument/2006/relationships/notesMaster" Target="/ppt/notesMasters/notesMaster1.xml" Id="R5f362930c1fe40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acd21fdd03480b" /><Relationship Type="http://schemas.openxmlformats.org/officeDocument/2006/relationships/notesMaster" Target="/ppt/notesMasters/notesMaster1.xml" Id="Rc94ffc6b546642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34aec974d346cd" /><Relationship Type="http://schemas.openxmlformats.org/officeDocument/2006/relationships/notesMaster" Target="/ppt/notesMasters/notesMaster1.xml" Id="R36dcaab089454d2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229ddaffe24b11" /><Relationship Type="http://schemas.openxmlformats.org/officeDocument/2006/relationships/notesMaster" Target="/ppt/notesMasters/notesMaster1.xml" Id="Ra353d96e1bae4dd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db8fdc126b34604" /><Relationship Type="http://schemas.openxmlformats.org/officeDocument/2006/relationships/notesMaster" Target="/ppt/notesMasters/notesMaster1.xml" Id="Rd2c31e5cd2384ee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158854dd025438a" /><Relationship Type="http://schemas.openxmlformats.org/officeDocument/2006/relationships/notesMaster" Target="/ppt/notesMasters/notesMaster1.xml" Id="Rf6b59387be5445c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8ce72acde74db2" /><Relationship Type="http://schemas.openxmlformats.org/officeDocument/2006/relationships/notesMaster" Target="/ppt/notesMasters/notesMaster1.xml" Id="R54c01b4440df455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792a985e2d84e52" /><Relationship Type="http://schemas.openxmlformats.org/officeDocument/2006/relationships/notesMaster" Target="/ppt/notesMasters/notesMaster1.xml" Id="Rc7f59b901641425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bf04e11f832401e" /><Relationship Type="http://schemas.openxmlformats.org/officeDocument/2006/relationships/notesMaster" Target="/ppt/notesMasters/notesMaster1.xml" Id="R848162ead904454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faca1f4dcb44cde" /><Relationship Type="http://schemas.openxmlformats.org/officeDocument/2006/relationships/notesMaster" Target="/ppt/notesMasters/notesMaster1.xml" Id="R204e4214a52c4ae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ba409dc1c9d4b32" /><Relationship Type="http://schemas.openxmlformats.org/officeDocument/2006/relationships/notesMaster" Target="/ppt/notesMasters/notesMaster1.xml" Id="R4903a908b1fb45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b8f81814cda4acf" /><Relationship Type="http://schemas.openxmlformats.org/officeDocument/2006/relationships/notesMaster" Target="/ppt/notesMasters/notesMaster1.xml" Id="R472cb7b8f3db4c5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bc7395a0a914a98" /><Relationship Type="http://schemas.openxmlformats.org/officeDocument/2006/relationships/notesMaster" Target="/ppt/notesMasters/notesMaster1.xml" Id="R3295471a54df4e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作品定位：美妆电商人工客服的辅助工作台。以虚构业务数据演示证据关联、回复建议与人工跟进。来源：docs/CONTEST_BRIEF.md、docs/FINAL_PROJECT_REPORT.md。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来源：README.md、docs/FINAL_PROJECT_REPORT.md。应用保存建议、审核与任务，实际退款、补发和客户消息发送由原平台人工处理。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退款场景为参赛虚构数据。消费者原话见 data/contest；业务背景见 docs/FINAL_PROJECT_REPORT.md。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来源：README.md、docs/ARCHITECTURE.md、docs/EVALUATION.md、data/contest/README.md。评估中心支持标注和计时，当前未完成独立人工质量与效率评估。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来源：docs/AGENT_DESIGN.md、tests/test_service_state.py、tests/test_service_continuity.py。两项设计共同约束回复计划；人工审核和风险任务支持后续处理。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来源：presentation/assets/review_and_followup.png，建议回复及客服回复草稿字段。为同一虚构退款案例的界面演示记录，不作为当前模型回归质量结果。消费者原话为场景摘编。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图片来源：presentation/assets/review_and_followup.png。截图含演示排练标识，未开展人工回复质量评估。原稿、修正原因与人工决定分别保存，来源 docs/AGENT_DESIGN.md。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两条时间相差42分钟。来源：虚构会话 S00381 与相关工单；docs/FINAL_PROJECT_REPORT.md。附件没有历史状态时明确标记未知。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示例用于说明 issue-scoped continuation。已解决、取消、暂缓与条件触发的事项不混为一谈，重新提出可恢复原事项。来源：docs/AGENT_DESIGN.md 与相关多轮测试。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来源：docs/AGENT_DESIGN.md、docs/ARCHITECTURE.md、src/knowledge/communication_brief.py、src/knowledge/response_plan.py。肤质为消费者自述，不构成诊断。未实现多模态图片内容理解。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场景摘编自虚构批次与真实性疑虑会话 S00076。这里展示风险处理机制，不判断产品真伪，也不将消费者表达认定为违规。来源：docs/AGENT_DESIGN.md。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节点顺序为 evidence、safety、draft、verify、audit。来源：docs/ARCHITECTURE.md、docs/AGENT_DESIGN.md。人工审核发生在生成后的业务接口。服务作用为机制目标，未量化真实客服提效。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知识分为过程用途与事实用途，具备来源与适用范围。精确缓存与有限证据回复是工程策略。来源：docs/AGENT_DESIGN.md、docs/EVALUATION.md。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来源：docs/EVALUATION.md、evaluation/reference/software_tests.json、evaluation/reference/five_stage_model.json。行为覆盖见 tests/test_service_state.py、tests/test_service_continuity.py、tests/test_five_stage_integration.py。441通过、3跳过是既有软件回归结果，非本轮重测。19条生成草稿0条自动标记，不构成人工质量结论。20条工程案例参与开发，非独立评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EVALUATION.md、src/agents/assist_agent.py、src/orchestration/workbench_workflow.py。全请求中位10.132秒，生成中位10.011秒。等待期间核对资料是建议操作方式，未量化时间节省。补充成本记录：2026-10-09，11共同案例两版各22次，Token由16368降至15364，减少6.13%，历史版本与输入不同，不能与当前20条直接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来源：docs/FINAL_PROJECT_REPORT.md。价值依据为已实现机制和可操作流程，未报告真实业务效率或满意度提升比例。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本页为后续设计方向。当前没有实现多模态附件理解，也未开展真实客服效率与满意度实测。来源：docs/FINAL_PROJECT_REPORT.md。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美妆客服共情副驾，以服务证据支持理解，以人工跟进承接处理。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7073ddeb8b4abd" /><Relationship Type="http://schemas.openxmlformats.org/officeDocument/2006/relationships/image" Target="/ppt/media/image.jpeg" Id="Rcdcccb2d6c214e72" /><Relationship Type="http://schemas.openxmlformats.org/officeDocument/2006/relationships/image" Target="/ppt/media/image.png" Id="R1e2204bd9b4e4e34" /><Relationship Type="http://schemas.openxmlformats.org/officeDocument/2006/relationships/image" Target="/ppt/media/image2.png" Id="Rdebb63a9ba404925" /><Relationship Type="http://schemas.openxmlformats.org/officeDocument/2006/relationships/image" Target="/ppt/media/image3.png" Id="Rd08cb3e8fba64c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b7965a0fc24cb8" /><Relationship Type="http://schemas.openxmlformats.org/officeDocument/2006/relationships/image" Target="/ppt/media/image.jpeg" Id="R723dad2b0a2f467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e16f1e1cda4b15" /><Relationship Type="http://schemas.openxmlformats.org/officeDocument/2006/relationships/image" Target="/ppt/media/image.jpeg" Id="Rb96627ada5884324" /><Relationship Type="http://schemas.openxmlformats.org/officeDocument/2006/relationships/image" Target="/ppt/media/image3.png" Id="R81eadf19ea5d4f4e" /><Relationship Type="http://schemas.openxmlformats.org/officeDocument/2006/relationships/image" Target="/ppt/media/image.png" Id="R0ba99da0087b4bcb" /><Relationship Type="http://schemas.openxmlformats.org/officeDocument/2006/relationships/image" Target="/ppt/media/image2.png" Id="R0b508146e3f1431c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EF4B8037-482B-4640-8B24-FAFCEADA3E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ccb2d6c214e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6095"/>
          </a:xfrm>
          <a:prstGeom xmlns:a="http://schemas.openxmlformats.org/drawingml/2006/main" prst="rect">
            <a:avLst/>
          </a:prstGeom>
        </p:spPr>
      </p:pic>
      <p:pic>
        <p:nvPicPr>
          <p:cNvPr id="6" name="图片 5">
            <a:extLst xmlns:a="http://schemas.openxmlformats.org/drawingml/2006/main">
              <a:ext uri="{FF2B5EF4-FFF2-40B4-BE49-F238E27FC236}">
                <a16:creationId xmlns:a16="http://schemas.microsoft.com/office/drawing/2014/main" id="{36AF496A-D2D6-47F7-9635-B14ABEBA24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2204bd9b4e4e34"/>
          <a:srcRect xmlns:a="http://schemas.openxmlformats.org/drawingml/2006/main" l="0" t="0" r="640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30548" y="206847"/>
            <a:ext cx="1528881" cy="932900"/>
          </a:xfrm>
          <a:prstGeom xmlns:a="http://schemas.openxmlformats.org/drawingml/2006/main" prst="rect">
            <a:avLst/>
          </a:prstGeom>
        </p:spPr>
      </p:pic>
      <p:pic>
        <p:nvPicPr>
          <p:cNvPr id="8" name="图片 7">
            <a:extLst xmlns:a="http://schemas.openxmlformats.org/drawingml/2006/main">
              <a:ext uri="{FF2B5EF4-FFF2-40B4-BE49-F238E27FC236}">
                <a16:creationId xmlns:a16="http://schemas.microsoft.com/office/drawing/2014/main" id="{7D716864-384B-41D3-B84B-960791565D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b63a9ba404925"/>
          <a:srcRect xmlns:a="http://schemas.openxmlformats.org/drawingml/2006/main" l="0" t="0" r="55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3146" y="109257"/>
            <a:ext cx="1528882" cy="1030490"/>
          </a:xfrm>
          <a:prstGeom xmlns:a="http://schemas.openxmlformats.org/drawingml/2006/main" prst="rect">
            <a:avLst/>
          </a:prstGeom>
        </p:spPr>
      </p:pic>
      <p:pic>
        <p:nvPicPr>
          <p:cNvPr id="9" name="图片 8">
            <a:extLst xmlns:a="http://schemas.openxmlformats.org/drawingml/2006/main">
              <a:ext uri="{FF2B5EF4-FFF2-40B4-BE49-F238E27FC236}">
                <a16:creationId xmlns:a16="http://schemas.microsoft.com/office/drawing/2014/main" id="{920C46E2-43ED-4B21-A27D-F51982F56C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b63a9ba404925"/>
          <a:srcRect xmlns:a="http://schemas.openxmlformats.org/drawingml/2006/main" l="48545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70402" y="113273"/>
            <a:ext cx="1782113" cy="1034157"/>
          </a:xfrm>
          <a:prstGeom xmlns:a="http://schemas.openxmlformats.org/drawingml/2006/main" prst="rect">
            <a:avLst/>
          </a:prstGeom>
        </p:spPr>
      </p:pic>
      <p:pic>
        <p:nvPicPr>
          <p:cNvPr id="10" name="图片 9">
            <a:extLst xmlns:a="http://schemas.openxmlformats.org/drawingml/2006/main">
              <a:ext uri="{FF2B5EF4-FFF2-40B4-BE49-F238E27FC236}">
                <a16:creationId xmlns:a16="http://schemas.microsoft.com/office/drawing/2014/main" id="{0530D5A3-1CA6-4F4A-B7AB-5AB690856C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2204bd9b4e4e34"/>
          <a:srcRect xmlns:a="http://schemas.openxmlformats.org/drawingml/2006/main" l="30287" t="0" r="640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84685" y="210863"/>
            <a:ext cx="242175" cy="932900"/>
          </a:xfrm>
          <a:prstGeom xmlns:a="http://schemas.openxmlformats.org/drawingml/2006/main" prst="rect">
            <a:avLst/>
          </a:prstGeom>
        </p:spPr>
      </p:pic>
      <p:pic>
        <p:nvPicPr>
          <p:cNvPr id="2" name="图片 1">
            <a:extLst xmlns:a="http://schemas.openxmlformats.org/drawingml/2006/main">
              <a:ext uri="{FF2B5EF4-FFF2-40B4-BE49-F238E27FC236}">
                <a16:creationId xmlns:a16="http://schemas.microsoft.com/office/drawing/2014/main" id="{B5ADE5EA-6E67-4D3C-BA83-FDE199B881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8cb3e8fba64c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685" y="5886450"/>
            <a:ext cx="5171440" cy="838835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图片 6">
            <a:extLst xmlns:a="http://schemas.openxmlformats.org/drawingml/2006/main">
              <a:ext uri="{FF2B5EF4-FFF2-40B4-BE49-F238E27FC236}">
                <a16:creationId xmlns:a16="http://schemas.microsoft.com/office/drawing/2014/main" id="{01AA1162-F43D-429C-816D-D209F1BE16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dad2b0a2f4678"/>
          <a:srcRect xmlns:a="http://schemas.openxmlformats.org/drawingml/2006/main" l="0" t="90094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176963"/>
            <a:ext cx="12192000" cy="67913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图片 9">
            <a:extLst xmlns:a="http://schemas.openxmlformats.org/drawingml/2006/main">
              <a:ext uri="{FF2B5EF4-FFF2-40B4-BE49-F238E27FC236}">
                <a16:creationId xmlns:a16="http://schemas.microsoft.com/office/drawing/2014/main" id="{38960EFA-7DB3-490F-9D34-769D205ED6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627ada58843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6095"/>
          </a:xfrm>
          <a:prstGeom xmlns:a="http://schemas.openxmlformats.org/drawingml/2006/main" prst="rect">
            <a:avLst/>
          </a:prstGeom>
        </p:spPr>
      </p:pic>
      <p:pic>
        <p:nvPicPr>
          <p:cNvPr id="3" name="图片 2">
            <a:extLst xmlns:a="http://schemas.openxmlformats.org/drawingml/2006/main">
              <a:ext uri="{FF2B5EF4-FFF2-40B4-BE49-F238E27FC236}">
                <a16:creationId xmlns:a16="http://schemas.microsoft.com/office/drawing/2014/main" id="{9F8E8C69-FB12-4301-B312-4FD76D5BA00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eadf19ea5d4f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685" y="5886450"/>
            <a:ext cx="5171440" cy="838835"/>
          </a:xfrm>
          <a:prstGeom xmlns:a="http://schemas.openxmlformats.org/drawingml/2006/main" prst="rect">
            <a:avLst/>
          </a:prstGeom>
        </p:spPr>
      </p:pic>
      <p:pic>
        <p:nvPicPr>
          <p:cNvPr id="12" name="图片 11">
            <a:extLst xmlns:a="http://schemas.openxmlformats.org/drawingml/2006/main">
              <a:ext uri="{FF2B5EF4-FFF2-40B4-BE49-F238E27FC236}">
                <a16:creationId xmlns:a16="http://schemas.microsoft.com/office/drawing/2014/main" id="{EE960AD2-5D0C-4B10-9FBC-1409C0F81F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99da0087b4bcb"/>
          <a:srcRect xmlns:a="http://schemas.openxmlformats.org/drawingml/2006/main" l="0" t="0" r="640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30548" y="206847"/>
            <a:ext cx="1528881" cy="932900"/>
          </a:xfrm>
          <a:prstGeom xmlns:a="http://schemas.openxmlformats.org/drawingml/2006/main" prst="rect">
            <a:avLst/>
          </a:prstGeom>
        </p:spPr>
      </p:pic>
      <p:pic>
        <p:nvPicPr>
          <p:cNvPr id="13" name="图片 12">
            <a:extLst xmlns:a="http://schemas.openxmlformats.org/drawingml/2006/main">
              <a:ext uri="{FF2B5EF4-FFF2-40B4-BE49-F238E27FC236}">
                <a16:creationId xmlns:a16="http://schemas.microsoft.com/office/drawing/2014/main" id="{561699D9-0C3F-456D-AC16-7301BFC6DE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08146e3f1431c"/>
          <a:srcRect xmlns:a="http://schemas.openxmlformats.org/drawingml/2006/main" l="0" t="0" r="556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3146" y="109257"/>
            <a:ext cx="1528882" cy="1030490"/>
          </a:xfrm>
          <a:prstGeom xmlns:a="http://schemas.openxmlformats.org/drawingml/2006/main" prst="rect">
            <a:avLst/>
          </a:prstGeom>
        </p:spPr>
      </p:pic>
      <p:pic>
        <p:nvPicPr>
          <p:cNvPr id="15" name="图片 14">
            <a:extLst xmlns:a="http://schemas.openxmlformats.org/drawingml/2006/main">
              <a:ext uri="{FF2B5EF4-FFF2-40B4-BE49-F238E27FC236}">
                <a16:creationId xmlns:a16="http://schemas.microsoft.com/office/drawing/2014/main" id="{B3A6EDE9-CEB6-4B0D-99B5-7C5E3A5147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08146e3f1431c"/>
          <a:srcRect xmlns:a="http://schemas.openxmlformats.org/drawingml/2006/main" l="48545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70402" y="113273"/>
            <a:ext cx="1782113" cy="1034157"/>
          </a:xfrm>
          <a:prstGeom xmlns:a="http://schemas.openxmlformats.org/drawingml/2006/main" prst="rect">
            <a:avLst/>
          </a:prstGeom>
        </p:spPr>
      </p:pic>
      <p:pic>
        <p:nvPicPr>
          <p:cNvPr id="16" name="图片 15">
            <a:extLst xmlns:a="http://schemas.openxmlformats.org/drawingml/2006/main">
              <a:ext uri="{FF2B5EF4-FFF2-40B4-BE49-F238E27FC236}">
                <a16:creationId xmlns:a16="http://schemas.microsoft.com/office/drawing/2014/main" id="{7639D0F0-EB12-4D95-933D-F0019527ED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99da0087b4bcb"/>
          <a:srcRect xmlns:a="http://schemas.openxmlformats.org/drawingml/2006/main" l="30287" t="0" r="640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84685" y="210863"/>
            <a:ext cx="242175" cy="93290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2a08a457934b7b" /><Relationship Type="http://schemas.openxmlformats.org/officeDocument/2006/relationships/slideLayout" Target="/ppt/slideLayouts/slideLayout1.xml" Id="Rcd6376d2b85247e3" /><Relationship Type="http://schemas.openxmlformats.org/officeDocument/2006/relationships/slideLayout" Target="/ppt/slideLayouts/slideLayout2.xml" Id="R9b439344e4cc4251" /><Relationship Type="http://schemas.openxmlformats.org/officeDocument/2006/relationships/slideLayout" Target="/ppt/slideLayouts/slideLayout3.xml" Id="R6e58e7c793b3482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D2C39FC-AEBD-4A39-819C-E99BBCBAF8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EB863C-85D6-4019-A3FA-88B29645EC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44229A6-2E72-46A2-A324-30DE057EFE3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C3AA96A-1B03-43C8-96A3-C5C452D1E02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E08252-D861-4BBA-BC4B-98AEE305181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23F62BB-A3C1-4379-BFD5-B28D1C0B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3725" y="6530340"/>
            <a:ext cx="876300" cy="137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>
                <a:solidFill>
                  <a:srgbClr val="008000">
                    <a:alpha val="50000"/>
                  </a:srgbClr>
                </a:solidFill>
                <a:latin typeface="Arial"/>
                <a:ea typeface="Arial"/>
                <a:cs typeface="Arial"/>
              </a:rPr>
              <a:t>C1 - Internal use</a:t>
            </a:r>
            <a:endParaRPr sz="900">
              <a:solidFill>
                <a:srgbClr val="008000">
                  <a:alpha val="50000"/>
                </a:srgbClr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6376d2b85247e3"/>
    <p:sldLayoutId xmlns:r="http://schemas.openxmlformats.org/officeDocument/2006/relationships" id="2147483650" r:id="R9b439344e4cc4251"/>
    <p:sldLayoutId xmlns:r="http://schemas.openxmlformats.org/officeDocument/2006/relationships" id="2147483651" r:id="R6e58e7c793b3482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38f6b3a0547a0" /><Relationship Type="http://schemas.openxmlformats.org/officeDocument/2006/relationships/notesSlide" Target="/ppt/notesSlides/notesSlide1.xml" Id="Rb470483d7af045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1637e393ae4962" /><Relationship Type="http://schemas.openxmlformats.org/officeDocument/2006/relationships/notesSlide" Target="/ppt/notesSlides/notesSlide2.xml" Id="R6e89a2550f39481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b869693bec4332" /><Relationship Type="http://schemas.openxmlformats.org/officeDocument/2006/relationships/notesSlide" Target="/ppt/notesSlides/notesSlide3.xml" Id="Ra1622302c5b845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f338e6fe3d4c7c" /><Relationship Type="http://schemas.openxmlformats.org/officeDocument/2006/relationships/notesSlide" Target="/ppt/notesSlides/notesSlide4.xml" Id="R9b9be891111742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6c58f0c184410c" /><Relationship Type="http://schemas.openxmlformats.org/officeDocument/2006/relationships/notesSlide" Target="/ppt/notesSlides/notesSlide5.xml" Id="R9f1e21d5bf9a4db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4d3536867445e6" /><Relationship Type="http://schemas.openxmlformats.org/officeDocument/2006/relationships/notesSlide" Target="/ppt/notesSlides/notesSlide6.xml" Id="Rd5aacaf300bd44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e02555ec884768" /><Relationship Type="http://schemas.openxmlformats.org/officeDocument/2006/relationships/image" Target="/ppt/media/image4.png" Id="Rbd36f401dc1a4721" /><Relationship Type="http://schemas.openxmlformats.org/officeDocument/2006/relationships/notesSlide" Target="/ppt/notesSlides/notesSlide7.xml" Id="R2d5b30fade1d44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9bc72cd0d7b4fdd" /><Relationship Type="http://schemas.openxmlformats.org/officeDocument/2006/relationships/notesSlide" Target="/ppt/notesSlides/notesSlide8.xml" Id="R8582492cd2fe48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a88ff4a0b294cb4" /><Relationship Type="http://schemas.openxmlformats.org/officeDocument/2006/relationships/notesSlide" Target="/ppt/notesSlides/notesSlide9.xml" Id="Ra8836f6d0b114c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702a2d5244e441e" /><Relationship Type="http://schemas.openxmlformats.org/officeDocument/2006/relationships/notesSlide" Target="/ppt/notesSlides/notesSlide10.xml" Id="Rdf827fc252ed44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d9202180784ffc" /><Relationship Type="http://schemas.openxmlformats.org/officeDocument/2006/relationships/notesSlide" Target="/ppt/notesSlides/notesSlide11.xml" Id="Rbf6e6c23d6774a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2e774b40c641d1" /><Relationship Type="http://schemas.openxmlformats.org/officeDocument/2006/relationships/notesSlide" Target="/ppt/notesSlides/notesSlide12.xml" Id="R3f66276e04eb413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e903e5028504307" /><Relationship Type="http://schemas.openxmlformats.org/officeDocument/2006/relationships/notesSlide" Target="/ppt/notesSlides/notesSlide13.xml" Id="R5ba408cc6d7249c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01d82592cf416f" /><Relationship Type="http://schemas.openxmlformats.org/officeDocument/2006/relationships/notesSlide" Target="/ppt/notesSlides/notesSlide14.xml" Id="Rc525ab1d8efe4a6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52a40d57b240c1" /><Relationship Type="http://schemas.openxmlformats.org/officeDocument/2006/relationships/notesSlide" Target="/ppt/notesSlides/notesSlide15.xml" Id="R8e0a1f76ca90452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85915bc74748ae" /><Relationship Type="http://schemas.openxmlformats.org/officeDocument/2006/relationships/notesSlide" Target="/ppt/notesSlides/notesSlide16.xml" Id="R0738a3ff3c5d40b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7eedf445fb4ce5" /><Relationship Type="http://schemas.openxmlformats.org/officeDocument/2006/relationships/notesSlide" Target="/ppt/notesSlides/notesSlide17.xml" Id="R52aaa39cdbe74d5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a623b1b7754471a" /><Relationship Type="http://schemas.openxmlformats.org/officeDocument/2006/relationships/notesSlide" Target="/ppt/notesSlides/notesSlide18.xml" Id="R9440eb520c094ee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美妆客服共情副驾">
            <a:extLst xmlns:a="http://schemas.openxmlformats.org/drawingml/2006/main">
              <a:ext uri="{FF2B5EF4-FFF2-40B4-BE49-F238E27FC236}">
                <a16:creationId xmlns:a16="http://schemas.microsoft.com/office/drawing/2014/main" id="{963E0821-D842-45D6-A862-AB452059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076450"/>
            <a:ext cx="933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4800" b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>美妆客服共情副驾</a:t>
            </a:r>
          </a:p>
        </p:txBody>
      </p:sp>
      <p:sp>
        <p:nvSpPr>
          <p:cNvPr id="2" name="面向美妆电商人工客服的辅助工作台">
            <a:extLst xmlns:a="http://schemas.openxmlformats.org/drawingml/2006/main">
              <a:ext uri="{FF2B5EF4-FFF2-40B4-BE49-F238E27FC236}">
                <a16:creationId xmlns:a16="http://schemas.microsoft.com/office/drawing/2014/main" id="{9BFBB0E3-1E59-4CC1-ABC4-F078B23F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143250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FFFFF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325" b="0">
                <a:solidFill>
                  <a:srgbClr val="FFFFFF"/>
                </a:solidFill>
                <a:latin typeface="思源黑体 CN Light"/>
                <a:ea typeface="思源黑体 CN Light"/>
                <a:cs typeface="思源黑体 CN Light"/>
              </a:rPr>
              <a:t>面向美妆电商人工客服的辅助工作台</a:t>
            </a:r>
          </a:p>
        </p:txBody>
      </p:sp>
      <p:sp>
        <p:nvSpPr>
          <p:cNvPr id="3" name="赛题一：数据共情者&#10;消费者的 AI 管家">
            <a:extLst xmlns:a="http://schemas.openxmlformats.org/drawingml/2006/main">
              <a:ext uri="{FF2B5EF4-FFF2-40B4-BE49-F238E27FC236}">
                <a16:creationId xmlns:a16="http://schemas.microsoft.com/office/drawing/2014/main" id="{9FA946DB-CD9D-44C3-94B4-AEB38690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9100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875" b="0">
                <a:solidFill>
                  <a:srgbClr val="FFFFFF"/>
                </a:solidFill>
                <a:latin typeface="思源黑体 CN Light"/>
                <a:ea typeface="思源黑体 CN Light"/>
                <a:cs typeface="思源黑体 CN Light"/>
              </a:rPr>
              <a:t>赛题一：数据共情者</a:t>
            </a:r>
          </a:p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875" b="0">
                <a:solidFill>
                  <a:srgbClr val="FFFFFF"/>
                </a:solidFill>
                <a:latin typeface="思源黑体 CN Light"/>
                <a:ea typeface="思源黑体 CN Light"/>
                <a:cs typeface="思源黑体 CN Light"/>
              </a:rPr>
              <a:t>消费者的 AI 管家</a:t>
            </a:r>
          </a:p>
        </p:txBody>
      </p:sp>
    </p:spTree>
    <p:extLst>
      <p:ext uri="{BB962C8B-B14F-4D97-AF65-F5344CB8AC3E}">
        <p14:creationId xmlns:p14="http://schemas.microsoft.com/office/powerpoint/2010/main" val="16555597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服务理解、回复审核与后续跟进">
            <a:extLst xmlns:a="http://schemas.openxmlformats.org/drawingml/2006/main">
              <a:ext uri="{FF2B5EF4-FFF2-40B4-BE49-F238E27FC236}">
                <a16:creationId xmlns:a16="http://schemas.microsoft.com/office/drawing/2014/main" id="{5420DEE3-8372-4B51-834D-DFF034AC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服务理解、回复审核与后续跟进</a:t>
            </a:r>
          </a:p>
        </p:txBody>
      </p:sp>
      <p:sp>
        <p:nvSpPr>
          <p:cNvPr id="2" name="产品定位">
            <a:extLst xmlns:a="http://schemas.openxmlformats.org/drawingml/2006/main">
              <a:ext uri="{FF2B5EF4-FFF2-40B4-BE49-F238E27FC236}">
                <a16:creationId xmlns:a16="http://schemas.microsoft.com/office/drawing/2014/main" id="{8D0A3FD8-0B55-4341-B5FC-762AD9503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产品定位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C0FAB3E8-C966-41E9-B993-E5F8E9AD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715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rPr>
              <a:t>02</a:t>
            </a:r>
          </a:p>
        </p:txBody>
      </p:sp>
      <p:sp>
        <p:nvSpPr>
          <p:cNvPr id="4" name="美妆电商人工客服的&#10;一体化辅助工作台">
            <a:extLst xmlns:a="http://schemas.openxmlformats.org/drawingml/2006/main">
              <a:ext uri="{FF2B5EF4-FFF2-40B4-BE49-F238E27FC236}">
                <a16:creationId xmlns:a16="http://schemas.microsoft.com/office/drawing/2014/main" id="{76E8D079-5790-44D8-881C-4BF58335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28825"/>
            <a:ext cx="5905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375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3375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美妆电商人工客服的</a:t>
            </a:r>
          </a:p>
          <a:p xmlns:a="http://schemas.openxmlformats.org/drawingml/2006/main">
            <a:pPr>
              <a:defRPr sz="3375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3375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一体化辅助工作台</a:t>
            </a:r>
          </a:p>
        </p:txBody>
      </p:sp>
      <p:sp>
        <p:nvSpPr>
          <p:cNvPr id="5" name="整合聊天、订单与售后工单，&#10;围绕消费者当前问题，生成带依据的建议。">
            <a:extLst xmlns:a="http://schemas.openxmlformats.org/drawingml/2006/main">
              <a:ext uri="{FF2B5EF4-FFF2-40B4-BE49-F238E27FC236}">
                <a16:creationId xmlns:a16="http://schemas.microsoft.com/office/drawing/2014/main" id="{FF21C239-34ED-4842-B9CA-0A921101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90950"/>
            <a:ext cx="5905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整合聊天、订单与售后工单，</a:t>
            </a:r>
          </a:p>
          <a:p xmlns:a="http://schemas.openxmlformats.org/drawingml/2006/main">
            <a:pPr>
              <a:def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围绕消费者当前问题，生成带依据的建议。</a:t>
            </a:r>
          </a:p>
        </p:txBody>
      </p:sp>
      <p:sp>
        <p:nvSpPr>
          <p:cNvPr id="6" name="客服获得什么">
            <a:extLst xmlns:a="http://schemas.openxmlformats.org/drawingml/2006/main">
              <a:ext uri="{FF2B5EF4-FFF2-40B4-BE49-F238E27FC236}">
                <a16:creationId xmlns:a16="http://schemas.microsoft.com/office/drawing/2014/main" id="{A013ECA9-85DE-4B1B-9149-E21315E9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1930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客服获得什么</a:t>
            </a:r>
          </a:p>
        </p:txBody>
      </p:sp>
      <p:sp>
        <p:nvSpPr>
          <p:cNvPr id="7" name="服务经过与未完成事项&#10;回复草稿与核查动作&#10;可持续跟进的人工任务">
            <a:extLst xmlns:a="http://schemas.openxmlformats.org/drawingml/2006/main">
              <a:ext uri="{FF2B5EF4-FFF2-40B4-BE49-F238E27FC236}">
                <a16:creationId xmlns:a16="http://schemas.microsoft.com/office/drawing/2014/main" id="{4AE8FF89-75EA-444A-ADC8-EFD47001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3714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服务经过与未完成事项</a:t>
            </a:r>
          </a:p>
          <a:p xmlns:a="http://schemas.openxmlformats.org/drawingml/2006/main">
            <a: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回复草稿与核查动作</a:t>
            </a:r>
          </a:p>
          <a:p xmlns:a="http://schemas.openxmlformats.org/drawingml/2006/main">
            <a: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可持续跟进的人工任务</a:t>
            </a:r>
          </a:p>
        </p:txBody>
      </p:sp>
      <p:sp>
        <p:nvSpPr>
          <p:cNvPr id="8" name="客服决定最终回复与业务处置">
            <a:extLst xmlns:a="http://schemas.openxmlformats.org/drawingml/2006/main">
              <a:ext uri="{FF2B5EF4-FFF2-40B4-BE49-F238E27FC236}">
                <a16:creationId xmlns:a16="http://schemas.microsoft.com/office/drawing/2014/main" id="{D9E475E6-3484-432A-9BB9-7AE4411A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81965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0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客服决定最终回复与业务处置</a:t>
            </a:r>
          </a:p>
        </p:txBody>
      </p:sp>
      <p:sp>
        <p:nvSpPr>
          <p:cNvPr id="9" name="参赛原型使用虚构业务数据，本地开源模型支持建议生成">
            <a:extLst xmlns:a="http://schemas.openxmlformats.org/drawingml/2006/main">
              <a:ext uri="{FF2B5EF4-FFF2-40B4-BE49-F238E27FC236}">
                <a16:creationId xmlns:a16="http://schemas.microsoft.com/office/drawing/2014/main" id="{08DC37D1-7F8E-4E7B-8F80-6396CBE1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rPr>
              <a:t>参赛原型使用虚构业务数据，本地开源模型支持建议生成</a:t>
            </a:r>
          </a:p>
        </p:txBody>
      </p:sp>
    </p:spTree>
    <p:extLst>
      <p:ext uri="{BB962C8B-B14F-4D97-AF65-F5344CB8AC3E}">
        <p14:creationId xmlns:p14="http://schemas.microsoft.com/office/powerpoint/2010/main" val="13898860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一次退款咨询，背后是多段服务记录">
            <a:extLst xmlns:a="http://schemas.openxmlformats.org/drawingml/2006/main">
              <a:ext uri="{FF2B5EF4-FFF2-40B4-BE49-F238E27FC236}">
                <a16:creationId xmlns:a16="http://schemas.microsoft.com/office/drawing/2014/main" id="{03BCF002-07BB-4C42-BAD8-7DA53CA4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一次退款咨询，背后是多段服务记录</a:t>
            </a:r>
          </a:p>
        </p:txBody>
      </p:sp>
      <p:sp>
        <p:nvSpPr>
          <p:cNvPr id="2" name="作品背景">
            <a:extLst xmlns:a="http://schemas.openxmlformats.org/drawingml/2006/main">
              <a:ext uri="{FF2B5EF4-FFF2-40B4-BE49-F238E27FC236}">
                <a16:creationId xmlns:a16="http://schemas.microsoft.com/office/drawing/2014/main" id="{4578BF14-0D09-4F34-992D-D609D218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作品背景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56AD5D7B-9283-42F1-A530-5E4D4504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715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rPr>
              <a:t>03</a:t>
            </a:r>
          </a:p>
        </p:txBody>
      </p:sp>
      <p:sp>
        <p:nvSpPr>
          <p:cNvPr id="4" name="“仓库都签收了，&#10;售后单却关闭了，&#10;我到底什么时候能退款？”">
            <a:extLst xmlns:a="http://schemas.openxmlformats.org/drawingml/2006/main">
              <a:ext uri="{FF2B5EF4-FFF2-40B4-BE49-F238E27FC236}">
                <a16:creationId xmlns:a16="http://schemas.microsoft.com/office/drawing/2014/main" id="{D3417953-6E69-43F9-BC74-8BD96C0B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5810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31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“仓库都签收了，</a:t>
            </a:r>
          </a:p>
          <a:p xmlns:a="http://schemas.openxmlformats.org/drawingml/2006/main">
            <a:pPr>
              <a:defRPr sz="31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31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售后单却关闭了，</a:t>
            </a:r>
          </a:p>
          <a:p xmlns:a="http://schemas.openxmlformats.org/drawingml/2006/main">
            <a:pPr>
              <a:defRPr sz="31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31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我到底什么时候能退款？”</a:t>
            </a:r>
          </a:p>
        </p:txBody>
      </p:sp>
      <p:sp>
        <p:nvSpPr>
          <p:cNvPr id="5" name="客服需要先还原发生了什么">
            <a:extLst xmlns:a="http://schemas.openxmlformats.org/drawingml/2006/main">
              <a:ext uri="{FF2B5EF4-FFF2-40B4-BE49-F238E27FC236}">
                <a16:creationId xmlns:a16="http://schemas.microsoft.com/office/drawing/2014/main" id="{CE2442AE-AE9C-4952-913A-4B6C3B1A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02882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客服需要先还原发生了什么</a:t>
            </a:r>
          </a:p>
        </p:txBody>
      </p:sp>
      <p:sp>
        <p:nvSpPr>
          <p:cNvPr id="6" name="聊天承载焦虑，订单记录交易。&#10;工单补充后续处理信息。">
            <a:extLst xmlns:a="http://schemas.openxmlformats.org/drawingml/2006/main">
              <a:ext uri="{FF2B5EF4-FFF2-40B4-BE49-F238E27FC236}">
                <a16:creationId xmlns:a16="http://schemas.microsoft.com/office/drawing/2014/main" id="{2E11BE4D-86D2-49D6-956F-3F8CAFE4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67000"/>
            <a:ext cx="3810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0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聊天承载焦虑，订单记录交易。</a:t>
            </a:r>
          </a:p>
          <a:p xmlns:a="http://schemas.openxmlformats.org/drawingml/2006/main">
            <a:pPr>
              <a:defRPr sz="20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0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工单补充后续处理信息。</a:t>
            </a:r>
          </a:p>
        </p:txBody>
      </p:sp>
      <p:sp>
        <p:nvSpPr>
          <p:cNvPr id="7" name="记录没有对齐，&#10;客服就容易重复询问，&#10;或承诺尚未确认的结果。">
            <a:extLst xmlns:a="http://schemas.openxmlformats.org/drawingml/2006/main">
              <a:ext uri="{FF2B5EF4-FFF2-40B4-BE49-F238E27FC236}">
                <a16:creationId xmlns:a16="http://schemas.microsoft.com/office/drawing/2014/main" id="{6CCFCF90-F833-4FE2-94A0-6AB0CD59E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67175"/>
            <a:ext cx="3810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0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记录没有对齐，</a:t>
            </a:r>
          </a:p>
          <a:p xmlns:a="http://schemas.openxmlformats.org/drawingml/2006/main">
            <a:pPr>
              <a:defRPr sz="20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0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客服就容易重复询问，</a:t>
            </a:r>
          </a:p>
          <a:p xmlns:a="http://schemas.openxmlformats.org/drawingml/2006/main">
            <a:pPr>
              <a:defRPr sz="20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0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或承诺尚未确认的结果。</a:t>
            </a:r>
          </a:p>
        </p:txBody>
      </p:sp>
      <p:sp>
        <p:nvSpPr>
          <p:cNvPr id="8" name="场景摘编自虚构会话 S00381">
            <a:extLst xmlns:a="http://schemas.openxmlformats.org/drawingml/2006/main">
              <a:ext uri="{FF2B5EF4-FFF2-40B4-BE49-F238E27FC236}">
                <a16:creationId xmlns:a16="http://schemas.microsoft.com/office/drawing/2014/main" id="{763B939E-47E9-409A-A57F-199C4A44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rPr>
              <a:t>场景摘编自虚构会话 S00381</a:t>
            </a:r>
          </a:p>
        </p:txBody>
      </p:sp>
    </p:spTree>
    <p:extLst>
      <p:ext uri="{BB962C8B-B14F-4D97-AF65-F5344CB8AC3E}">
        <p14:creationId xmlns:p14="http://schemas.microsoft.com/office/powerpoint/2010/main" val="13898860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完整产品覆盖一次接待的前后过程">
            <a:extLst xmlns:a="http://schemas.openxmlformats.org/drawingml/2006/main">
              <a:ext uri="{FF2B5EF4-FFF2-40B4-BE49-F238E27FC236}">
                <a16:creationId xmlns:a16="http://schemas.microsoft.com/office/drawing/2014/main" id="{D51D988A-F345-4524-9A24-238760743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完整产品覆盖一次接待的前后过程</a:t>
            </a:r>
          </a:p>
        </p:txBody>
      </p:sp>
      <p:sp>
        <p:nvSpPr>
          <p:cNvPr id="2" name="产品全貌">
            <a:extLst xmlns:a="http://schemas.openxmlformats.org/drawingml/2006/main">
              <a:ext uri="{FF2B5EF4-FFF2-40B4-BE49-F238E27FC236}">
                <a16:creationId xmlns:a16="http://schemas.microsoft.com/office/drawing/2014/main" id="{798DC0AE-E767-4478-8678-5A737A0E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产品全貌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D0145105-0878-4FFB-B5BF-BD9BEE61D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715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rPr>
              <a:t>04</a:t>
            </a:r>
          </a:p>
        </p:txBody>
      </p:sp>
      <p:sp>
        <p:nvSpPr>
          <p:cNvPr id="4" name="业务数据">
            <a:extLst xmlns:a="http://schemas.openxmlformats.org/drawingml/2006/main">
              <a:ext uri="{FF2B5EF4-FFF2-40B4-BE49-F238E27FC236}">
                <a16:creationId xmlns:a16="http://schemas.microsoft.com/office/drawing/2014/main" id="{AE82D307-66E4-40CF-A590-561E4BCBF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71675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175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业务数据</a:t>
            </a:r>
          </a:p>
        </p:txBody>
      </p:sp>
      <p:sp>
        <p:nvSpPr>
          <p:cNvPr id="5" name="聊天、订单、五类售后工单">
            <a:extLst xmlns:a="http://schemas.openxmlformats.org/drawingml/2006/main">
              <a:ext uri="{FF2B5EF4-FFF2-40B4-BE49-F238E27FC236}">
                <a16:creationId xmlns:a16="http://schemas.microsoft.com/office/drawing/2014/main" id="{D3953FA6-750E-4582-AF6B-52F557D6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971675"/>
            <a:ext cx="8239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1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聊天、订单、五类售后工单</a:t>
            </a:r>
          </a:p>
        </p:txBody>
      </p:sp>
      <p:sp>
        <p:nvSpPr>
          <p:cNvPr id="6" name="按会话与时点关联，身份候选由人工确认">
            <a:extLst xmlns:a="http://schemas.openxmlformats.org/drawingml/2006/main">
              <a:ext uri="{FF2B5EF4-FFF2-40B4-BE49-F238E27FC236}">
                <a16:creationId xmlns:a16="http://schemas.microsoft.com/office/drawing/2014/main" id="{3B05C153-99C7-4E8C-8BCF-C17D33CA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33625"/>
            <a:ext cx="823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按会话与时点关联，身份候选由人工确认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7E257-6CBB-4239-A176-6CA51CA6D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19275"/>
            <a:ext cx="10620375" cy="8001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90A9D"/>
            </a:solidFill>
            <a:prstDash val="solid"/>
          </a:ln>
        </p:spPr>
      </p:sp>
      <p:sp>
        <p:nvSpPr>
          <p:cNvPr id="8" name="客服工作台">
            <a:extLst xmlns:a="http://schemas.openxmlformats.org/drawingml/2006/main">
              <a:ext uri="{FF2B5EF4-FFF2-40B4-BE49-F238E27FC236}">
                <a16:creationId xmlns:a16="http://schemas.microsoft.com/office/drawing/2014/main" id="{5B7E67F7-55D7-4C2F-B05B-3F70D534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175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客服工作台</a:t>
            </a:r>
          </a:p>
        </p:txBody>
      </p:sp>
      <p:sp>
        <p:nvSpPr>
          <p:cNvPr id="9" name="服务轨迹、事项状态、回复建议">
            <a:extLst xmlns:a="http://schemas.openxmlformats.org/drawingml/2006/main">
              <a:ext uri="{FF2B5EF4-FFF2-40B4-BE49-F238E27FC236}">
                <a16:creationId xmlns:a16="http://schemas.microsoft.com/office/drawing/2014/main" id="{6A91AB95-AF1C-4A45-9160-59561E23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57500"/>
            <a:ext cx="8239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1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服务轨迹、事项状态、回复建议</a:t>
            </a:r>
          </a:p>
        </p:txBody>
      </p:sp>
      <p:sp>
        <p:nvSpPr>
          <p:cNvPr id="10" name="核对证据，编辑草稿，保存人工审核">
            <a:extLst xmlns:a="http://schemas.openxmlformats.org/drawingml/2006/main">
              <a:ext uri="{FF2B5EF4-FFF2-40B4-BE49-F238E27FC236}">
                <a16:creationId xmlns:a16="http://schemas.microsoft.com/office/drawing/2014/main" id="{455E6B4D-AD34-49E4-890A-AEB0C496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219450"/>
            <a:ext cx="823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核对证据，编辑草稿，保存人工审核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2F8FD6-C3EB-40C6-9F77-A8A0AE72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0620375" cy="8001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90A9D"/>
            </a:solidFill>
            <a:prstDash val="solid"/>
          </a:ln>
        </p:spPr>
      </p:sp>
      <p:sp>
        <p:nvSpPr>
          <p:cNvPr id="12" name="风险看板">
            <a:extLst xmlns:a="http://schemas.openxmlformats.org/drawingml/2006/main">
              <a:ext uri="{FF2B5EF4-FFF2-40B4-BE49-F238E27FC236}">
                <a16:creationId xmlns:a16="http://schemas.microsoft.com/office/drawing/2014/main" id="{DB7C2A7F-FFF1-4377-90D4-493D4EA3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43325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175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风险看板</a:t>
            </a:r>
          </a:p>
        </p:txBody>
      </p:sp>
      <p:sp>
        <p:nvSpPr>
          <p:cNvPr id="13" name="风险定位、负责人、期限与处置历史">
            <a:extLst xmlns:a="http://schemas.openxmlformats.org/drawingml/2006/main">
              <a:ext uri="{FF2B5EF4-FFF2-40B4-BE49-F238E27FC236}">
                <a16:creationId xmlns:a16="http://schemas.microsoft.com/office/drawing/2014/main" id="{385840CD-E1F2-4C37-9F9B-BE276A4E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43325"/>
            <a:ext cx="8239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1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风险定位、负责人、期限与处置历史</a:t>
            </a:r>
          </a:p>
        </p:txBody>
      </p:sp>
      <p:sp>
        <p:nvSpPr>
          <p:cNvPr id="14" name="重复分析延续任务，完成后可带原因重开">
            <a:extLst xmlns:a="http://schemas.openxmlformats.org/drawingml/2006/main">
              <a:ext uri="{FF2B5EF4-FFF2-40B4-BE49-F238E27FC236}">
                <a16:creationId xmlns:a16="http://schemas.microsoft.com/office/drawing/2014/main" id="{A247EC19-ED90-4DDC-B39C-A1AFB606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105275"/>
            <a:ext cx="823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重复分析延续任务，完成后可带原因重开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91259-BD9F-420D-8A82-819005EF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10620375" cy="8001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90A9D"/>
            </a:solidFill>
            <a:prstDash val="solid"/>
          </a:ln>
        </p:spPr>
      </p:sp>
      <p:sp>
        <p:nvSpPr>
          <p:cNvPr id="16" name="评估中心">
            <a:extLst xmlns:a="http://schemas.openxmlformats.org/drawingml/2006/main">
              <a:ext uri="{FF2B5EF4-FFF2-40B4-BE49-F238E27FC236}">
                <a16:creationId xmlns:a16="http://schemas.microsoft.com/office/drawing/2014/main" id="{B7D8278A-E1A4-43CF-A09D-DF9D3FE6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175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评估中心</a:t>
            </a:r>
          </a:p>
        </p:txBody>
      </p:sp>
      <p:sp>
        <p:nvSpPr>
          <p:cNvPr id="17" name="场景标签、人工标注与效率记录">
            <a:extLst xmlns:a="http://schemas.openxmlformats.org/drawingml/2006/main">
              <a:ext uri="{FF2B5EF4-FFF2-40B4-BE49-F238E27FC236}">
                <a16:creationId xmlns:a16="http://schemas.microsoft.com/office/drawing/2014/main" id="{C071EE7D-8C04-4AA8-8C5F-A45BCF89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629150"/>
            <a:ext cx="8239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1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场景标签、人工标注与效率记录</a:t>
            </a:r>
          </a:p>
        </p:txBody>
      </p:sp>
      <p:sp>
        <p:nvSpPr>
          <p:cNvPr id="18" name="工程预期、模型预测和人工标注分别留存">
            <a:extLst xmlns:a="http://schemas.openxmlformats.org/drawingml/2006/main">
              <a:ext uri="{FF2B5EF4-FFF2-40B4-BE49-F238E27FC236}">
                <a16:creationId xmlns:a16="http://schemas.microsoft.com/office/drawing/2014/main" id="{1E635D4A-DE9C-4D3C-B792-4B72CC3C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991100"/>
            <a:ext cx="8239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工程预期、模型预测和人工标注分别留存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3ABCB1-2631-4106-A4E8-6AE0DBB0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620375" cy="8001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90A9D"/>
            </a:solidFill>
            <a:prstDash val="solid"/>
          </a:ln>
        </p:spPr>
      </p:sp>
      <p:sp>
        <p:nvSpPr>
          <p:cNvPr id="20" name="虚构业务数据：138 个会话、998 条消息、113 笔订单、80 张">
            <a:extLst xmlns:a="http://schemas.openxmlformats.org/drawingml/2006/main">
              <a:ext uri="{FF2B5EF4-FFF2-40B4-BE49-F238E27FC236}">
                <a16:creationId xmlns:a16="http://schemas.microsoft.com/office/drawing/2014/main" id="{0FECB434-6B52-4D25-A000-F2FEFBE7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rPr>
              <a:t>虚构业务数据：138 个会话、998 条消息、113 笔订单、80 张工单</a:t>
            </a:r>
          </a:p>
        </p:txBody>
      </p:sp>
    </p:spTree>
    <p:extLst>
      <p:ext uri="{BB962C8B-B14F-4D97-AF65-F5344CB8AC3E}">
        <p14:creationId xmlns:p14="http://schemas.microsoft.com/office/powerpoint/2010/main" val="138988609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核心创新：时点证据与事项连续性">
            <a:extLst xmlns:a="http://schemas.openxmlformats.org/drawingml/2006/main">
              <a:ext uri="{FF2B5EF4-FFF2-40B4-BE49-F238E27FC236}">
                <a16:creationId xmlns:a16="http://schemas.microsoft.com/office/drawing/2014/main" id="{BF227B82-5D96-4411-95A8-A46EF5A9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核心创新：时点证据与事项连续性</a:t>
            </a:r>
          </a:p>
        </p:txBody>
      </p:sp>
      <p:sp>
        <p:nvSpPr>
          <p:cNvPr id="2" name="核心创新">
            <a:extLst xmlns:a="http://schemas.openxmlformats.org/drawingml/2006/main">
              <a:ext uri="{FF2B5EF4-FFF2-40B4-BE49-F238E27FC236}">
                <a16:creationId xmlns:a16="http://schemas.microsoft.com/office/drawing/2014/main" id="{2DF5C526-861B-43DF-88E0-73DC7CFBB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核心创新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C0426D6F-ED69-4D68-9578-805196575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715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rPr>
              <a:t>05</a:t>
            </a:r>
          </a:p>
        </p:txBody>
      </p:sp>
      <p:sp>
        <p:nvSpPr>
          <p:cNvPr id="4" name="01  时点证据">
            <a:extLst xmlns:a="http://schemas.openxmlformats.org/drawingml/2006/main">
              <a:ext uri="{FF2B5EF4-FFF2-40B4-BE49-F238E27FC236}">
                <a16:creationId xmlns:a16="http://schemas.microsoft.com/office/drawing/2014/main" id="{1009B309-93CC-4FC4-AFDB-0B6A2DC1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288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01  时点证据</a:t>
            </a:r>
          </a:p>
        </p:txBody>
      </p:sp>
      <p:sp>
        <p:nvSpPr>
          <p:cNvPr id="5" name="按咨询发生时的记录分析">
            <a:extLst xmlns:a="http://schemas.openxmlformats.org/drawingml/2006/main">
              <a:ext uri="{FF2B5EF4-FFF2-40B4-BE49-F238E27FC236}">
                <a16:creationId xmlns:a16="http://schemas.microsoft.com/office/drawing/2014/main" id="{7A9D9071-7518-47D4-8EB2-0033B08B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55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按咨询发生时的记录分析</a:t>
            </a:r>
          </a:p>
        </p:txBody>
      </p:sp>
      <p:sp>
        <p:nvSpPr>
          <p:cNvPr id="6" name="后续工单保留在后续时点。&#10;退款建议说明当前仍需核查什么。">
            <a:extLst xmlns:a="http://schemas.openxmlformats.org/drawingml/2006/main">
              <a:ext uri="{FF2B5EF4-FFF2-40B4-BE49-F238E27FC236}">
                <a16:creationId xmlns:a16="http://schemas.microsoft.com/office/drawing/2014/main" id="{38FCAED0-9379-42B2-9CE4-E1D135DB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95675"/>
            <a:ext cx="4857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后续工单保留在后续时点。</a:t>
            </a:r>
          </a:p>
          <a:p xmlns:a="http://schemas.openxmlformats.org/drawingml/2006/main">
            <a:pPr>
              <a:def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退款建议说明当前仍需核查什么。</a:t>
            </a:r>
          </a:p>
        </p:txBody>
      </p:sp>
      <p:sp>
        <p:nvSpPr>
          <p:cNvPr id="7" name="02  事项连续性">
            <a:extLst xmlns:a="http://schemas.openxmlformats.org/drawingml/2006/main">
              <a:ext uri="{FF2B5EF4-FFF2-40B4-BE49-F238E27FC236}">
                <a16:creationId xmlns:a16="http://schemas.microsoft.com/office/drawing/2014/main" id="{B0AC6E58-2FF4-4BCB-9473-6062A9BE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288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02  事项连续性</a:t>
            </a:r>
          </a:p>
        </p:txBody>
      </p:sp>
      <p:sp>
        <p:nvSpPr>
          <p:cNvPr id="8" name="按具体诉求延续处理">
            <a:extLst xmlns:a="http://schemas.openxmlformats.org/drawingml/2006/main">
              <a:ext uri="{FF2B5EF4-FFF2-40B4-BE49-F238E27FC236}">
                <a16:creationId xmlns:a16="http://schemas.microsoft.com/office/drawing/2014/main" id="{6BC6C26E-920A-426B-9FB5-E300B7D2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55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按具体诉求延续处理</a:t>
            </a:r>
          </a:p>
        </p:txBody>
      </p:sp>
      <p:sp>
        <p:nvSpPr>
          <p:cNvPr id="9" name="漏液已解决，泵头仍待处理。&#10;已有资料随对应事项继续保留。">
            <a:extLst xmlns:a="http://schemas.openxmlformats.org/drawingml/2006/main">
              <a:ext uri="{FF2B5EF4-FFF2-40B4-BE49-F238E27FC236}">
                <a16:creationId xmlns:a16="http://schemas.microsoft.com/office/drawing/2014/main" id="{CAED34B5-7AA0-46E3-89F4-237D900C5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95675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漏液已解决，泵头仍待处理。</a:t>
            </a:r>
          </a:p>
          <a:p xmlns:a="http://schemas.openxmlformats.org/drawingml/2006/main">
            <a:pPr>
              <a:def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已有资料随对应事项继续保留。</a:t>
            </a:r>
          </a:p>
        </p:txBody>
      </p:sp>
      <p:sp>
        <p:nvSpPr>
          <p:cNvPr id="10" name="人工审核与跟进任务承接建议，记录负责人和处理进展。">
            <a:extLst xmlns:a="http://schemas.openxmlformats.org/drawingml/2006/main">
              <a:ext uri="{FF2B5EF4-FFF2-40B4-BE49-F238E27FC236}">
                <a16:creationId xmlns:a16="http://schemas.microsoft.com/office/drawing/2014/main" id="{AD5BCA74-D746-4E08-A8DA-17214597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0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人工审核与跟进任务承接建议，记录负责人和处理进展。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DF3A10-D246-458D-BDB8-7E391747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5286375" cy="3000375"/>
          </a:xfrm>
          <a:prstGeom xmlns:a="http://schemas.openxmlformats.org/drawingml/2006/main" prst="roundRect">
            <a:avLst>
              <a:gd name="adj" fmla="val 254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90A9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5A7F13-23B3-47CE-B066-3578070B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57375"/>
            <a:ext cx="5286375" cy="3000375"/>
          </a:xfrm>
          <a:prstGeom xmlns:a="http://schemas.openxmlformats.org/drawingml/2006/main" prst="roundRect">
            <a:avLst>
              <a:gd name="adj" fmla="val 2540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90A9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48E936-5177-48CB-A257-5C8D250B6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10858500" cy="666750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90A9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8988609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退款案例：核查重点进入最终草稿">
            <a:extLst xmlns:a="http://schemas.openxmlformats.org/drawingml/2006/main">
              <a:ext uri="{FF2B5EF4-FFF2-40B4-BE49-F238E27FC236}">
                <a16:creationId xmlns:a16="http://schemas.microsoft.com/office/drawing/2014/main" id="{F6DCE482-FB89-4058-B434-658F6380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退款案例：核查重点进入最终草稿</a:t>
            </a:r>
          </a:p>
        </p:txBody>
      </p:sp>
      <p:sp>
        <p:nvSpPr>
          <p:cNvPr id="2" name="完整案例 · S00381">
            <a:extLst xmlns:a="http://schemas.openxmlformats.org/drawingml/2006/main">
              <a:ext uri="{FF2B5EF4-FFF2-40B4-BE49-F238E27FC236}">
                <a16:creationId xmlns:a16="http://schemas.microsoft.com/office/drawing/2014/main" id="{E5107D7F-9800-4E86-9CDA-10EE9BB4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完整案例 · S00381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3717276F-DC72-4065-B864-636584DA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715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rPr>
              <a:t>06</a:t>
            </a:r>
          </a:p>
        </p:txBody>
      </p:sp>
      <p:sp>
        <p:nvSpPr>
          <p:cNvPr id="4" name="消费者当前表达">
            <a:extLst xmlns:a="http://schemas.openxmlformats.org/drawingml/2006/main">
              <a:ext uri="{FF2B5EF4-FFF2-40B4-BE49-F238E27FC236}">
                <a16:creationId xmlns:a16="http://schemas.microsoft.com/office/drawing/2014/main" id="{25D68714-ABA5-43D2-90CB-40B48920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消费者当前表达</a:t>
            </a:r>
          </a:p>
        </p:txBody>
      </p:sp>
      <p:sp>
        <p:nvSpPr>
          <p:cNvPr id="5" name="“退货仓库都签收了，&#10;但售后单关闭了，我退不出来。”">
            <a:extLst xmlns:a="http://schemas.openxmlformats.org/drawingml/2006/main">
              <a:ext uri="{FF2B5EF4-FFF2-40B4-BE49-F238E27FC236}">
                <a16:creationId xmlns:a16="http://schemas.microsoft.com/office/drawing/2014/main" id="{B9C560A9-803A-4EBB-B2E9-D8BFBA53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62225"/>
            <a:ext cx="4476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“退货仓库都签收了，</a:t>
            </a:r>
          </a:p>
          <a:p xmlns:a="http://schemas.openxmlformats.org/drawingml/2006/main">
            <a:pPr>
              <a:def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但售后单关闭了，我退不出来。”</a:t>
            </a:r>
          </a:p>
        </p:txBody>
      </p:sp>
      <p:sp>
        <p:nvSpPr>
          <p:cNvPr id="6" name="依据如何影响回复">
            <a:extLst xmlns:a="http://schemas.openxmlformats.org/drawingml/2006/main">
              <a:ext uri="{FF2B5EF4-FFF2-40B4-BE49-F238E27FC236}">
                <a16:creationId xmlns:a16="http://schemas.microsoft.com/office/drawing/2014/main" id="{601ED2C2-16DF-4709-AA9D-CA298C3E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433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依据如何影响回复</a:t>
            </a:r>
          </a:p>
        </p:txBody>
      </p:sp>
      <p:sp>
        <p:nvSpPr>
          <p:cNvPr id="7" name="签收是消费者自述，仍需核实。&#10;退货入库、关闭原因与退款流水&#10;共同决定后">
            <a:extLst xmlns:a="http://schemas.openxmlformats.org/drawingml/2006/main">
              <a:ext uri="{FF2B5EF4-FFF2-40B4-BE49-F238E27FC236}">
                <a16:creationId xmlns:a16="http://schemas.microsoft.com/office/drawing/2014/main" id="{4CE8EBD6-7CA1-43A2-A19A-88B1A0EF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14850"/>
            <a:ext cx="44767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95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签收是消费者自述，仍需核实。</a:t>
            </a:r>
          </a:p>
          <a:p xmlns:a="http://schemas.openxmlformats.org/drawingml/2006/main">
            <a:pPr>
              <a:defRPr sz="195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95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退货入库、关闭原因与退款流水</a:t>
            </a:r>
          </a:p>
          <a:p xmlns:a="http://schemas.openxmlformats.org/drawingml/2006/main">
            <a:pPr>
              <a:defRPr sz="195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95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共同决定后续处理。</a:t>
            </a:r>
          </a:p>
        </p:txBody>
      </p:sp>
      <p:sp>
        <p:nvSpPr>
          <p:cNvPr id="8" name="演示记录中的建议回复">
            <a:extLst xmlns:a="http://schemas.openxmlformats.org/drawingml/2006/main">
              <a:ext uri="{FF2B5EF4-FFF2-40B4-BE49-F238E27FC236}">
                <a16:creationId xmlns:a16="http://schemas.microsoft.com/office/drawing/2014/main" id="{E607C71B-F84F-4A18-9D58-A92AA2521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981200"/>
            <a:ext cx="5191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演示记录中的建议回复</a:t>
            </a:r>
          </a:p>
        </p:txBody>
      </p:sp>
      <p:sp>
        <p:nvSpPr>
          <p:cNvPr id="9" name="“退货后还没拿到退款，难怪您着急。需要先核对退货入库、售后关闭原因和退">
            <a:extLst xmlns:a="http://schemas.openxmlformats.org/drawingml/2006/main">
              <a:ext uri="{FF2B5EF4-FFF2-40B4-BE49-F238E27FC236}">
                <a16:creationId xmlns:a16="http://schemas.microsoft.com/office/drawing/2014/main" id="{539271A4-52C8-4E09-BE1E-22307B8D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47950"/>
            <a:ext cx="5191125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25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“退货后还没拿到退款，难怪您着急。需要先核对退货入库、售后关闭原因和退款流水，确认卡在哪一步，再向您说明处理办法。核查结果确认后再反馈。”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414E1E-1EE1-48C4-810E-FE7E47DF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5143500" cy="3857625"/>
          </a:xfrm>
          <a:prstGeom xmlns:a="http://schemas.openxmlformats.org/drawingml/2006/main" prst="roundRect">
            <a:avLst>
              <a:gd name="adj" fmla="val 1975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90A9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83765-EC3B-4547-9DFE-F7D7567D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857375"/>
            <a:ext cx="5572125" cy="3143250"/>
          </a:xfrm>
          <a:prstGeom xmlns:a="http://schemas.openxmlformats.org/drawingml/2006/main" prst="roundRect">
            <a:avLst>
              <a:gd name="adj" fmla="val 242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90A9D"/>
            </a:solidFill>
            <a:prstDash val="solid"/>
          </a:ln>
        </p:spPr>
      </p:sp>
      <p:sp>
        <p:nvSpPr>
          <p:cNvPr id="12" name="草稿摘自虚构数据演示记录，客服审核后决定是否使用">
            <a:extLst xmlns:a="http://schemas.openxmlformats.org/drawingml/2006/main">
              <a:ext uri="{FF2B5EF4-FFF2-40B4-BE49-F238E27FC236}">
                <a16:creationId xmlns:a16="http://schemas.microsoft.com/office/drawing/2014/main" id="{F2C0991A-0E64-4D4C-96CE-E2427B12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rPr>
              <a:t>草稿摘自虚构数据演示记录，客服审核后决定是否使用</a:t>
            </a:r>
          </a:p>
        </p:txBody>
      </p:sp>
    </p:spTree>
    <p:extLst>
      <p:ext uri="{BB962C8B-B14F-4D97-AF65-F5344CB8AC3E}">
        <p14:creationId xmlns:p14="http://schemas.microsoft.com/office/powerpoint/2010/main" val="13898860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退款案例：草稿之后还有人工处理">
            <a:extLst xmlns:a="http://schemas.openxmlformats.org/drawingml/2006/main">
              <a:ext uri="{FF2B5EF4-FFF2-40B4-BE49-F238E27FC236}">
                <a16:creationId xmlns:a16="http://schemas.microsoft.com/office/drawing/2014/main" id="{0754DD49-4A56-4212-A050-8F25F05B9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退款案例：草稿之后还有人工处理</a:t>
            </a:r>
          </a:p>
        </p:txBody>
      </p:sp>
      <p:sp>
        <p:nvSpPr>
          <p:cNvPr id="2" name="完整案例 · 审核与跟进">
            <a:extLst xmlns:a="http://schemas.openxmlformats.org/drawingml/2006/main">
              <a:ext uri="{FF2B5EF4-FFF2-40B4-BE49-F238E27FC236}">
                <a16:creationId xmlns:a16="http://schemas.microsoft.com/office/drawing/2014/main" id="{14CEDECE-F9E4-4A73-9F92-5FD69733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完整案例 · 审核与跟进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566C7F04-B8F0-4379-A21E-0D570D6E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715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rPr>
              <a:t>07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F4161-D920-46EF-AE6D-F0A90F103D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6f401dc1a4721"/>
          <a:stretch xmlns:a="http://schemas.openxmlformats.org/drawingml/2006/main"/>
        </p:blipFill>
        <p:spPr>
          <a:xfrm xmlns:a="http://schemas.openxmlformats.org/drawingml/2006/main">
            <a:off x="1900415" y="1933575"/>
            <a:ext cx="2104670" cy="3695700"/>
          </a:xfrm>
          <a:prstGeom xmlns:a="http://schemas.openxmlformats.org/drawingml/2006/main" prst="rect">
            <a:avLst/>
          </a:prstGeom>
        </p:spPr>
      </p:pic>
      <p:sp>
        <p:nvSpPr>
          <p:cNvPr id="5" name="客服审核">
            <a:extLst xmlns:a="http://schemas.openxmlformats.org/drawingml/2006/main">
              <a:ext uri="{FF2B5EF4-FFF2-40B4-BE49-F238E27FC236}">
                <a16:creationId xmlns:a16="http://schemas.microsoft.com/office/drawing/2014/main" id="{656D4F94-C4BC-4509-825C-765710C6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客服审核</a:t>
            </a:r>
          </a:p>
        </p:txBody>
      </p:sp>
      <p:sp>
        <p:nvSpPr>
          <p:cNvPr id="6" name="核对依据并编辑草稿&#10;采纳或拒绝，记录审核人与备注">
            <a:extLst xmlns:a="http://schemas.openxmlformats.org/drawingml/2006/main">
              <a:ext uri="{FF2B5EF4-FFF2-40B4-BE49-F238E27FC236}">
                <a16:creationId xmlns:a16="http://schemas.microsoft.com/office/drawing/2014/main" id="{4139BB93-93ED-47BE-B174-5A2DB84C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62225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核对依据并编辑草稿</a:t>
            </a:r>
          </a:p>
          <a:p xmlns:a="http://schemas.openxmlformats.org/drawingml/2006/main">
            <a: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采纳或拒绝，记录审核人与备注</a:t>
            </a:r>
          </a:p>
        </p:txBody>
      </p:sp>
      <p:sp>
        <p:nvSpPr>
          <p:cNvPr id="7" name="人工跟进">
            <a:extLst xmlns:a="http://schemas.openxmlformats.org/drawingml/2006/main">
              <a:ext uri="{FF2B5EF4-FFF2-40B4-BE49-F238E27FC236}">
                <a16:creationId xmlns:a16="http://schemas.microsoft.com/office/drawing/2014/main" id="{A10EE1E9-E142-45D4-9B6E-CC9B4780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人工跟进</a:t>
            </a:r>
          </a:p>
        </p:txBody>
      </p:sp>
      <p:sp>
        <p:nvSpPr>
          <p:cNvPr id="8" name="核查入库、关闭原因和退款流水&#10;记录任务负责人、进展与操作历史">
            <a:extLst xmlns:a="http://schemas.openxmlformats.org/drawingml/2006/main">
              <a:ext uri="{FF2B5EF4-FFF2-40B4-BE49-F238E27FC236}">
                <a16:creationId xmlns:a16="http://schemas.microsoft.com/office/drawing/2014/main" id="{AF742502-9874-4753-90FE-25D4CB57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62475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核查入库、关闭原因和退款流水</a:t>
            </a:r>
          </a:p>
          <a:p xmlns:a="http://schemas.openxmlformats.org/drawingml/2006/main">
            <a: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记录任务负责人、进展与操作历史</a:t>
            </a:r>
          </a:p>
        </p:txBody>
      </p:sp>
      <p:sp>
        <p:nvSpPr>
          <p:cNvPr id="9" name="演示界面中的任务完成仅表示流程操作，不表示真实退款到账">
            <a:extLst xmlns:a="http://schemas.openxmlformats.org/drawingml/2006/main">
              <a:ext uri="{FF2B5EF4-FFF2-40B4-BE49-F238E27FC236}">
                <a16:creationId xmlns:a16="http://schemas.microsoft.com/office/drawing/2014/main" id="{2F60727B-6080-4B0F-8B87-CBF0FCD3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rPr>
              <a:t>演示界面中的任务完成仅表示流程操作，不表示真实退款到账</a:t>
            </a:r>
          </a:p>
        </p:txBody>
      </p:sp>
    </p:spTree>
    <p:extLst>
      <p:ext uri="{BB962C8B-B14F-4D97-AF65-F5344CB8AC3E}">
        <p14:creationId xmlns:p14="http://schemas.microsoft.com/office/powerpoint/2010/main" val="138988609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历史回放只使用当时可见的证据">
            <a:extLst xmlns:a="http://schemas.openxmlformats.org/drawingml/2006/main">
              <a:ext uri="{FF2B5EF4-FFF2-40B4-BE49-F238E27FC236}">
                <a16:creationId xmlns:a16="http://schemas.microsoft.com/office/drawing/2014/main" id="{33073CA0-A716-4509-A7A4-0BC216F9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历史回放只使用当时可见的证据</a:t>
            </a:r>
          </a:p>
        </p:txBody>
      </p:sp>
      <p:sp>
        <p:nvSpPr>
          <p:cNvPr id="2" name="创新设计 · 时点证据">
            <a:extLst xmlns:a="http://schemas.openxmlformats.org/drawingml/2006/main">
              <a:ext uri="{FF2B5EF4-FFF2-40B4-BE49-F238E27FC236}">
                <a16:creationId xmlns:a16="http://schemas.microsoft.com/office/drawing/2014/main" id="{D3F52525-DE1B-4FB6-AEE7-CCC71FBE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创新设计 · 时点证据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EE75A47F-A5DD-4C8C-AB81-BAB9110E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715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rPr>
              <a:t>08</a:t>
            </a:r>
          </a:p>
        </p:txBody>
      </p:sp>
      <p:sp>
        <p:nvSpPr>
          <p:cNvPr id="4" name="42">
            <a:extLst xmlns:a="http://schemas.openxmlformats.org/drawingml/2006/main">
              <a:ext uri="{FF2B5EF4-FFF2-40B4-BE49-F238E27FC236}">
                <a16:creationId xmlns:a16="http://schemas.microsoft.com/office/drawing/2014/main" id="{50DB53BF-BA02-4953-B3FB-D2B34C07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26670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81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81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81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42</a:t>
            </a:r>
          </a:p>
        </p:txBody>
      </p:sp>
      <p:sp>
        <p:nvSpPr>
          <p:cNvPr id="5" name="分钟的时间差">
            <a:extLst xmlns:a="http://schemas.openxmlformats.org/drawingml/2006/main">
              <a:ext uri="{FF2B5EF4-FFF2-40B4-BE49-F238E27FC236}">
                <a16:creationId xmlns:a16="http://schemas.microsoft.com/office/drawing/2014/main" id="{3C8F8B84-6ED9-4CA8-816A-13A408A4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042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55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分钟的时间差</a:t>
            </a:r>
          </a:p>
        </p:txBody>
      </p:sp>
      <p:sp>
        <p:nvSpPr>
          <p:cNvPr id="6" name="足以改变客服当时&#10;可以确认的事实">
            <a:extLst xmlns:a="http://schemas.openxmlformats.org/drawingml/2006/main">
              <a:ext uri="{FF2B5EF4-FFF2-40B4-BE49-F238E27FC236}">
                <a16:creationId xmlns:a16="http://schemas.microsoft.com/office/drawing/2014/main" id="{BC0679B1-FA1A-4D43-8F45-4B7C5CB0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足以改变客服当时</a:t>
            </a:r>
          </a:p>
          <a:p xmlns:a="http://schemas.openxmlformats.org/drawingml/2006/main">
            <a: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可以确认的事实</a:t>
            </a:r>
          </a:p>
        </p:txBody>
      </p:sp>
      <p:sp>
        <p:nvSpPr>
          <p:cNvPr id="7" name="15:44:33  消费者询问退款">
            <a:extLst xmlns:a="http://schemas.openxmlformats.org/drawingml/2006/main">
              <a:ext uri="{FF2B5EF4-FFF2-40B4-BE49-F238E27FC236}">
                <a16:creationId xmlns:a16="http://schemas.microsoft.com/office/drawing/2014/main" id="{841A82EE-1DE3-42BD-9D5B-B077DF68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859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15:44:33  消费者询问退款</a:t>
            </a:r>
          </a:p>
        </p:txBody>
      </p:sp>
      <p:sp>
        <p:nvSpPr>
          <p:cNvPr id="8" name="当前分析时点&#10;只能使用此前已存在的聊天、订单与工单信息">
            <a:extLst xmlns:a="http://schemas.openxmlformats.org/drawingml/2006/main">
              <a:ext uri="{FF2B5EF4-FFF2-40B4-BE49-F238E27FC236}">
                <a16:creationId xmlns:a16="http://schemas.microsoft.com/office/drawing/2014/main" id="{FF11802F-367C-4758-9FB5-BDF6F596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57475"/>
            <a:ext cx="619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当前分析时点</a:t>
            </a:r>
          </a:p>
          <a:p xmlns:a="http://schemas.openxmlformats.org/drawingml/2006/main">
            <a: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只能使用此前已存在的聊天、订单与工单信息</a:t>
            </a:r>
          </a:p>
        </p:txBody>
      </p:sp>
      <p:sp>
        <p:nvSpPr>
          <p:cNvPr id="9" name="16:26:33  后续工单记录出现">
            <a:extLst xmlns:a="http://schemas.openxmlformats.org/drawingml/2006/main">
              <a:ext uri="{FF2B5EF4-FFF2-40B4-BE49-F238E27FC236}">
                <a16:creationId xmlns:a16="http://schemas.microsoft.com/office/drawing/2014/main" id="{F76EDA8C-4BD6-4619-8095-FB94AA7F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3382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16:26:33  后续工单记录出现</a:t>
            </a:r>
          </a:p>
        </p:txBody>
      </p:sp>
      <p:sp>
        <p:nvSpPr>
          <p:cNvPr id="10" name="这条记录不进入 15:44 的分析证据&#10;避免用后来的处理结果回答过去的">
            <a:extLst xmlns:a="http://schemas.openxmlformats.org/drawingml/2006/main">
              <a:ext uri="{FF2B5EF4-FFF2-40B4-BE49-F238E27FC236}">
                <a16:creationId xmlns:a16="http://schemas.microsoft.com/office/drawing/2014/main" id="{E3903E28-8330-43A2-965B-E6CD0236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505325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这条记录不进入 15:44 的分析证据</a:t>
            </a:r>
          </a:p>
          <a:p xmlns:a="http://schemas.openxmlformats.org/drawingml/2006/main">
            <a: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避免用后来的处理结果回答过去的问题</a:t>
            </a:r>
          </a:p>
        </p:txBody>
      </p:sp>
      <p:sp>
        <p:nvSpPr>
          <p:cNvPr id="11" name="示例日期 2026-05-19，虚构会话 S00381">
            <a:extLst xmlns:a="http://schemas.openxmlformats.org/drawingml/2006/main">
              <a:ext uri="{FF2B5EF4-FFF2-40B4-BE49-F238E27FC236}">
                <a16:creationId xmlns:a16="http://schemas.microsoft.com/office/drawing/2014/main" id="{6446CFE3-8C3A-40C3-8A20-F198E02C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rPr>
              <a:t>示例日期 2026-05-19，虚构会话 S00381</a:t>
            </a:r>
          </a:p>
        </p:txBody>
      </p:sp>
    </p:spTree>
    <p:extLst>
      <p:ext uri="{BB962C8B-B14F-4D97-AF65-F5344CB8AC3E}">
        <p14:creationId xmlns:p14="http://schemas.microsoft.com/office/powerpoint/2010/main" val="138988609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同一段对话里的诉求分别延续">
            <a:extLst xmlns:a="http://schemas.openxmlformats.org/drawingml/2006/main">
              <a:ext uri="{FF2B5EF4-FFF2-40B4-BE49-F238E27FC236}">
                <a16:creationId xmlns:a16="http://schemas.microsoft.com/office/drawing/2014/main" id="{6061D30D-D731-4EF4-9305-D522B93D5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同一段对话里的诉求分别延续</a:t>
            </a:r>
          </a:p>
        </p:txBody>
      </p:sp>
      <p:sp>
        <p:nvSpPr>
          <p:cNvPr id="2" name="创新设计 · 多轮事项">
            <a:extLst xmlns:a="http://schemas.openxmlformats.org/drawingml/2006/main">
              <a:ext uri="{FF2B5EF4-FFF2-40B4-BE49-F238E27FC236}">
                <a16:creationId xmlns:a16="http://schemas.microsoft.com/office/drawing/2014/main" id="{EBEAA241-7041-4721-BBDD-374EF73F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创新设计 · 多轮事项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5A611436-EAFE-4A0C-A471-75955AC4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715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rPr>
              <a:t>09</a:t>
            </a:r>
          </a:p>
        </p:txBody>
      </p:sp>
      <p:sp>
        <p:nvSpPr>
          <p:cNvPr id="4" name="“漏液已经解决了，&#10;但泵头还是坏的。”">
            <a:extLst xmlns:a="http://schemas.openxmlformats.org/drawingml/2006/main">
              <a:ext uri="{FF2B5EF4-FFF2-40B4-BE49-F238E27FC236}">
                <a16:creationId xmlns:a16="http://schemas.microsoft.com/office/drawing/2014/main" id="{38C9A0F9-425B-4DEB-ACA8-88FF508A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90725"/>
            <a:ext cx="1028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3225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“漏液已经解决了，</a:t>
            </a:r>
          </a:p>
          <a:p xmlns:a="http://schemas.openxmlformats.org/drawingml/2006/main">
            <a:pPr>
              <a:defRPr sz="3225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3225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但泵头还是坏的。”</a:t>
            </a:r>
          </a:p>
        </p:txBody>
      </p:sp>
      <p:sp>
        <p:nvSpPr>
          <p:cNvPr id="5" name="漏液">
            <a:extLst xmlns:a="http://schemas.openxmlformats.org/drawingml/2006/main">
              <a:ext uri="{FF2B5EF4-FFF2-40B4-BE49-F238E27FC236}">
                <a16:creationId xmlns:a16="http://schemas.microsoft.com/office/drawing/2014/main" id="{477D6937-4B82-4FCC-8A1A-721DB780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漏液</a:t>
            </a:r>
          </a:p>
        </p:txBody>
      </p:sp>
      <p:sp>
        <p:nvSpPr>
          <p:cNvPr id="6" name="记录为已反馈解决&#10;保留原有处理历史">
            <a:extLst xmlns:a="http://schemas.openxmlformats.org/drawingml/2006/main">
              <a:ext uri="{FF2B5EF4-FFF2-40B4-BE49-F238E27FC236}">
                <a16:creationId xmlns:a16="http://schemas.microsoft.com/office/drawing/2014/main" id="{0B6DC7F8-DB7F-4B98-89A4-5F28C177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4191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记录为已反馈解决</a:t>
            </a:r>
          </a:p>
          <a:p xmlns:a="http://schemas.openxmlformats.org/drawingml/2006/main">
            <a:pPr>
              <a:def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保留原有处理历史</a:t>
            </a:r>
          </a:p>
        </p:txBody>
      </p:sp>
      <p:sp>
        <p:nvSpPr>
          <p:cNvPr id="7" name="泵头损坏">
            <a:extLst xmlns:a="http://schemas.openxmlformats.org/drawingml/2006/main">
              <a:ext uri="{FF2B5EF4-FFF2-40B4-BE49-F238E27FC236}">
                <a16:creationId xmlns:a16="http://schemas.microsoft.com/office/drawing/2014/main" id="{CD0C92A9-7FF0-4FFF-9A77-ACD2F613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623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泵头损坏</a:t>
            </a:r>
          </a:p>
        </p:txBody>
      </p:sp>
      <p:sp>
        <p:nvSpPr>
          <p:cNvPr id="8" name="继续作为待处理事项&#10;回复与下一步围绕泵头展开">
            <a:extLst xmlns:a="http://schemas.openxmlformats.org/drawingml/2006/main">
              <a:ext uri="{FF2B5EF4-FFF2-40B4-BE49-F238E27FC236}">
                <a16:creationId xmlns:a16="http://schemas.microsoft.com/office/drawing/2014/main" id="{357C107E-0EC7-46CA-BDAC-E7B817C9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114800"/>
            <a:ext cx="4857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继续作为待处理事项</a:t>
            </a:r>
          </a:p>
          <a:p xmlns:a="http://schemas.openxmlformats.org/drawingml/2006/main">
            <a:pPr>
              <a:def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回复与下一步围绕泵头展开</a:t>
            </a:r>
          </a:p>
        </p:txBody>
      </p:sp>
      <p:sp>
        <p:nvSpPr>
          <p:cNvPr id="9" name="每个事项保留稳定标识，并区分暂缓、条件触发、取消和已反馈解决">
            <a:extLst xmlns:a="http://schemas.openxmlformats.org/drawingml/2006/main">
              <a:ext uri="{FF2B5EF4-FFF2-40B4-BE49-F238E27FC236}">
                <a16:creationId xmlns:a16="http://schemas.microsoft.com/office/drawing/2014/main" id="{F8A42138-078F-4148-ACC8-2D3CD076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rPr>
              <a:t>每个事项保留稳定标识，并区分暂缓、条件触发、取消和已反馈解决</a:t>
            </a:r>
          </a:p>
        </p:txBody>
      </p:sp>
    </p:spTree>
    <p:extLst>
      <p:ext uri="{BB962C8B-B14F-4D97-AF65-F5344CB8AC3E}">
        <p14:creationId xmlns:p14="http://schemas.microsoft.com/office/powerpoint/2010/main" val="138988609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美妆场景中的顾虑进入服务理解">
            <a:extLst xmlns:a="http://schemas.openxmlformats.org/drawingml/2006/main">
              <a:ext uri="{FF2B5EF4-FFF2-40B4-BE49-F238E27FC236}">
                <a16:creationId xmlns:a16="http://schemas.microsoft.com/office/drawing/2014/main" id="{F68FFF31-3886-41BF-B986-B75E313C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美妆场景中的顾虑进入服务理解</a:t>
            </a:r>
          </a:p>
        </p:txBody>
      </p:sp>
      <p:sp>
        <p:nvSpPr>
          <p:cNvPr id="2" name="场景适配">
            <a:extLst xmlns:a="http://schemas.openxmlformats.org/drawingml/2006/main">
              <a:ext uri="{FF2B5EF4-FFF2-40B4-BE49-F238E27FC236}">
                <a16:creationId xmlns:a16="http://schemas.microsoft.com/office/drawing/2014/main" id="{32AD4B56-3B6C-4E64-ADA6-424B6A18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场景适配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5C3B05E7-BFDC-43CB-8521-76BEB0CD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715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rPr>
              <a:t>10</a:t>
            </a:r>
          </a:p>
        </p:txBody>
      </p:sp>
      <p:sp>
        <p:nvSpPr>
          <p:cNvPr id="4" name="肤质与使用顾虑">
            <a:extLst xmlns:a="http://schemas.openxmlformats.org/drawingml/2006/main">
              <a:ext uri="{FF2B5EF4-FFF2-40B4-BE49-F238E27FC236}">
                <a16:creationId xmlns:a16="http://schemas.microsoft.com/office/drawing/2014/main" id="{741AE4E5-77E6-4553-82E1-C336CFF7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71675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1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肤质与使用顾虑</a:t>
            </a:r>
          </a:p>
        </p:txBody>
      </p:sp>
      <p:sp>
        <p:nvSpPr>
          <p:cNvPr id="5" name="保留消费者的肤质自述及来源">
            <a:extLst xmlns:a="http://schemas.openxmlformats.org/drawingml/2006/main">
              <a:ext uri="{FF2B5EF4-FFF2-40B4-BE49-F238E27FC236}">
                <a16:creationId xmlns:a16="http://schemas.microsoft.com/office/drawing/2014/main" id="{80C93423-70F4-436E-A206-731AFB6F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971675"/>
            <a:ext cx="7191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02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保留消费者的肤质自述及来源</a:t>
            </a:r>
          </a:p>
        </p:txBody>
      </p:sp>
      <p:sp>
        <p:nvSpPr>
          <p:cNvPr id="6" name="组织沟通重点，存在不同表达时提示人工核对">
            <a:extLst xmlns:a="http://schemas.openxmlformats.org/drawingml/2006/main">
              <a:ext uri="{FF2B5EF4-FFF2-40B4-BE49-F238E27FC236}">
                <a16:creationId xmlns:a16="http://schemas.microsoft.com/office/drawing/2014/main" id="{093496A9-1630-4619-808C-CD9925A9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33625"/>
            <a:ext cx="719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组织沟通重点，存在不同表达时提示人工核对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DD5C08-7A0E-4585-90EF-B49A2288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19275"/>
            <a:ext cx="10620375" cy="8001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90A9D"/>
            </a:solidFill>
            <a:prstDash val="solid"/>
          </a:ln>
        </p:spPr>
      </p:sp>
      <p:sp>
        <p:nvSpPr>
          <p:cNvPr id="8" name="使用后的不适反馈">
            <a:extLst xmlns:a="http://schemas.openxmlformats.org/drawingml/2006/main">
              <a:ext uri="{FF2B5EF4-FFF2-40B4-BE49-F238E27FC236}">
                <a16:creationId xmlns:a16="http://schemas.microsoft.com/office/drawing/2014/main" id="{A775BF51-1A22-4DBC-972B-EAE9261C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1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使用后的不适反馈</a:t>
            </a:r>
          </a:p>
        </p:txBody>
      </p:sp>
      <p:sp>
        <p:nvSpPr>
          <p:cNvPr id="9" name="优先确认当前状况，触发相应风险线索">
            <a:extLst xmlns:a="http://schemas.openxmlformats.org/drawingml/2006/main">
              <a:ext uri="{FF2B5EF4-FFF2-40B4-BE49-F238E27FC236}">
                <a16:creationId xmlns:a16="http://schemas.microsoft.com/office/drawing/2014/main" id="{0F514234-159E-4ADA-9736-12833BA7E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857500"/>
            <a:ext cx="7191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02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优先确认当前状况，触发相应风险线索</a:t>
            </a:r>
          </a:p>
        </p:txBody>
      </p:sp>
      <p:sp>
        <p:nvSpPr>
          <p:cNvPr id="10" name="客服结合已有资料跟进，避免无依据的效果承诺">
            <a:extLst xmlns:a="http://schemas.openxmlformats.org/drawingml/2006/main">
              <a:ext uri="{FF2B5EF4-FFF2-40B4-BE49-F238E27FC236}">
                <a16:creationId xmlns:a16="http://schemas.microsoft.com/office/drawing/2014/main" id="{AA861A86-DDB5-4190-A217-F83EB9CF8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219450"/>
            <a:ext cx="719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客服结合已有资料跟进，避免无依据的效果承诺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F9EA9B-F20E-4ED3-A1A2-1D497E99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0620375" cy="8001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90A9D"/>
            </a:solidFill>
            <a:prstDash val="solid"/>
          </a:ln>
        </p:spPr>
      </p:sp>
      <p:sp>
        <p:nvSpPr>
          <p:cNvPr id="12" name="漏液、泵头与商品少件">
            <a:extLst xmlns:a="http://schemas.openxmlformats.org/drawingml/2006/main">
              <a:ext uri="{FF2B5EF4-FFF2-40B4-BE49-F238E27FC236}">
                <a16:creationId xmlns:a16="http://schemas.microsoft.com/office/drawing/2014/main" id="{F8B9F7B3-396D-47BE-B262-A1A1A22D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43325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1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漏液、泵头与商品少件</a:t>
            </a:r>
          </a:p>
        </p:txBody>
      </p:sp>
      <p:sp>
        <p:nvSpPr>
          <p:cNvPr id="13" name="按具体问题保留事项和已有材料">
            <a:extLst xmlns:a="http://schemas.openxmlformats.org/drawingml/2006/main">
              <a:ext uri="{FF2B5EF4-FFF2-40B4-BE49-F238E27FC236}">
                <a16:creationId xmlns:a16="http://schemas.microsoft.com/office/drawing/2014/main" id="{A5FC1DA7-76FC-464B-A3A9-9C8E04F9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743325"/>
            <a:ext cx="7191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02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按具体问题保留事项和已有材料</a:t>
            </a:r>
          </a:p>
        </p:txBody>
      </p:sp>
      <p:sp>
        <p:nvSpPr>
          <p:cNvPr id="14" name="分别延续处理，明确需要核查的商品与环节">
            <a:extLst xmlns:a="http://schemas.openxmlformats.org/drawingml/2006/main">
              <a:ext uri="{FF2B5EF4-FFF2-40B4-BE49-F238E27FC236}">
                <a16:creationId xmlns:a16="http://schemas.microsoft.com/office/drawing/2014/main" id="{01F0C851-E6C0-4D74-BD4C-738D2FDB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105275"/>
            <a:ext cx="719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分别延续处理，明确需要核查的商品与环节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A224F2-FA59-43BE-992A-6B3DE07C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10620375" cy="8001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90A9D"/>
            </a:solidFill>
            <a:prstDash val="solid"/>
          </a:ln>
        </p:spPr>
      </p:sp>
      <p:sp>
        <p:nvSpPr>
          <p:cNvPr id="16" name="批次与真实性疑虑">
            <a:extLst xmlns:a="http://schemas.openxmlformats.org/drawingml/2006/main">
              <a:ext uri="{FF2B5EF4-FFF2-40B4-BE49-F238E27FC236}">
                <a16:creationId xmlns:a16="http://schemas.microsoft.com/office/drawing/2014/main" id="{AF04E6AC-D670-498B-9614-620F8ABE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1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批次与真实性疑虑</a:t>
            </a:r>
          </a:p>
        </p:txBody>
      </p:sp>
      <p:sp>
        <p:nvSpPr>
          <p:cNvPr id="17" name="保留疑虑原话，核对批次与可核验渠道">
            <a:extLst xmlns:a="http://schemas.openxmlformats.org/drawingml/2006/main">
              <a:ext uri="{FF2B5EF4-FFF2-40B4-BE49-F238E27FC236}">
                <a16:creationId xmlns:a16="http://schemas.microsoft.com/office/drawing/2014/main" id="{DA763D6B-71AB-4B52-A4E5-21A14F9F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629150"/>
            <a:ext cx="7191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02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保留疑虑原话，核对批次与可核验渠道</a:t>
            </a:r>
          </a:p>
        </p:txBody>
      </p:sp>
      <p:sp>
        <p:nvSpPr>
          <p:cNvPr id="18" name="提出人工核查动作，资料不足时保留待核项">
            <a:extLst xmlns:a="http://schemas.openxmlformats.org/drawingml/2006/main">
              <a:ext uri="{FF2B5EF4-FFF2-40B4-BE49-F238E27FC236}">
                <a16:creationId xmlns:a16="http://schemas.microsoft.com/office/drawing/2014/main" id="{F8A9CA6C-BAC7-4CEA-A760-1C8CE9C3A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991100"/>
            <a:ext cx="7191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提出人工核查动作，资料不足时保留待核项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D2D449-C6ED-4DF1-B524-09AEFB6A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620375" cy="800100"/>
          </a:xfrm>
          <a:prstGeom xmlns:a="http://schemas.openxmlformats.org/drawingml/2006/main" prst="roundRect">
            <a:avLst>
              <a:gd name="adj" fmla="val 9524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90A9D"/>
            </a:solidFill>
            <a:prstDash val="solid"/>
          </a:ln>
        </p:spPr>
      </p:sp>
      <p:sp>
        <p:nvSpPr>
          <p:cNvPr id="20" name="当前使用文本与附件记录，图片内容理解列为后续扩展">
            <a:extLst xmlns:a="http://schemas.openxmlformats.org/drawingml/2006/main">
              <a:ext uri="{FF2B5EF4-FFF2-40B4-BE49-F238E27FC236}">
                <a16:creationId xmlns:a16="http://schemas.microsoft.com/office/drawing/2014/main" id="{1A3C8C61-F019-4F6F-BA24-B8A159BF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rPr>
              <a:t>当前使用文本与附件记录，图片内容理解列为后续扩展</a:t>
            </a:r>
          </a:p>
        </p:txBody>
      </p:sp>
    </p:spTree>
    <p:extLst>
      <p:ext uri="{BB962C8B-B14F-4D97-AF65-F5344CB8AC3E}">
        <p14:creationId xmlns:p14="http://schemas.microsoft.com/office/powerpoint/2010/main" val="138988609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风险先登记，再等待模型生成">
            <a:extLst xmlns:a="http://schemas.openxmlformats.org/drawingml/2006/main">
              <a:ext uri="{FF2B5EF4-FFF2-40B4-BE49-F238E27FC236}">
                <a16:creationId xmlns:a16="http://schemas.microsoft.com/office/drawing/2014/main" id="{96DF5744-E05E-481F-ABB5-35A5FE21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风险先登记，再等待模型生成</a:t>
            </a:r>
          </a:p>
        </p:txBody>
      </p:sp>
      <p:sp>
        <p:nvSpPr>
          <p:cNvPr id="2" name="创新设计 · 人工跟进">
            <a:extLst xmlns:a="http://schemas.openxmlformats.org/drawingml/2006/main">
              <a:ext uri="{FF2B5EF4-FFF2-40B4-BE49-F238E27FC236}">
                <a16:creationId xmlns:a16="http://schemas.microsoft.com/office/drawing/2014/main" id="{5E23A85F-81A8-4039-BE81-4ED453E6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创新设计 · 人工跟进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C1BA3560-D1F9-46A7-A04F-1836C793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715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rPr>
              <a:t>11</a:t>
            </a:r>
          </a:p>
        </p:txBody>
      </p:sp>
      <p:sp>
        <p:nvSpPr>
          <p:cNvPr id="4" name="“再不给我解释，&#10;我就去平台反映。”">
            <a:extLst xmlns:a="http://schemas.openxmlformats.org/drawingml/2006/main">
              <a:ext uri="{FF2B5EF4-FFF2-40B4-BE49-F238E27FC236}">
                <a16:creationId xmlns:a16="http://schemas.microsoft.com/office/drawing/2014/main" id="{8BD69E54-A97A-42E9-B17F-95886609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5810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0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30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“再不给我解释，</a:t>
            </a:r>
          </a:p>
          <a:p xmlns:a="http://schemas.openxmlformats.org/drawingml/2006/main">
            <a:pPr>
              <a:defRPr sz="30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30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我就去平台反映。”</a:t>
            </a:r>
          </a:p>
        </p:txBody>
      </p:sp>
      <p:sp>
        <p:nvSpPr>
          <p:cNvPr id="5" name="条件性表达保留触发条件&#10;批次疑虑需要可核验的依据&#10;处理建议交给人工确认">
            <a:extLst xmlns:a="http://schemas.openxmlformats.org/drawingml/2006/main">
              <a:ext uri="{FF2B5EF4-FFF2-40B4-BE49-F238E27FC236}">
                <a16:creationId xmlns:a16="http://schemas.microsoft.com/office/drawing/2014/main" id="{5CCCEFB5-E170-4D78-A2AF-0A014140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5667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条件性表达保留触发条件</a:t>
            </a:r>
          </a:p>
          <a:p xmlns:a="http://schemas.openxmlformats.org/drawingml/2006/main">
            <a:pPr>
              <a:def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批次疑虑需要可核验的依据</a:t>
            </a:r>
          </a:p>
          <a:p xmlns:a="http://schemas.openxmlformats.org/drawingml/2006/main">
            <a:pPr>
              <a:def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处理建议交给人工确认</a:t>
            </a:r>
          </a:p>
        </p:txBody>
      </p:sp>
      <p:sp>
        <p:nvSpPr>
          <p:cNvPr id="6" name="生成排队前">
            <a:extLst xmlns:a="http://schemas.openxmlformats.org/drawingml/2006/main">
              <a:ext uri="{FF2B5EF4-FFF2-40B4-BE49-F238E27FC236}">
                <a16:creationId xmlns:a16="http://schemas.microsoft.com/office/drawing/2014/main" id="{D4DB9754-B8EA-47D0-8CA6-AC232361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977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生成排队前</a:t>
            </a:r>
          </a:p>
        </p:txBody>
      </p:sp>
      <p:sp>
        <p:nvSpPr>
          <p:cNvPr id="7" name="先保存风险与任务&#10;模型超时仍可继续跟进">
            <a:extLst xmlns:a="http://schemas.openxmlformats.org/drawingml/2006/main">
              <a:ext uri="{FF2B5EF4-FFF2-40B4-BE49-F238E27FC236}">
                <a16:creationId xmlns:a16="http://schemas.microsoft.com/office/drawing/2014/main" id="{BB2EA367-D212-45D5-A686-EBB586B1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先保存风险与任务</a:t>
            </a:r>
          </a:p>
          <a:p xmlns:a="http://schemas.openxmlformats.org/drawingml/2006/main">
            <a: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模型超时仍可继续跟进</a:t>
            </a:r>
          </a:p>
        </p:txBody>
      </p:sp>
      <p:sp>
        <p:nvSpPr>
          <p:cNvPr id="8" name="任务持续流转">
            <a:extLst xmlns:a="http://schemas.openxmlformats.org/drawingml/2006/main">
              <a:ext uri="{FF2B5EF4-FFF2-40B4-BE49-F238E27FC236}">
                <a16:creationId xmlns:a16="http://schemas.microsoft.com/office/drawing/2014/main" id="{C3656754-E279-49E7-A743-C848D376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96240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任务持续流转</a:t>
            </a:r>
          </a:p>
        </p:txBody>
      </p:sp>
      <p:sp>
        <p:nvSpPr>
          <p:cNvPr id="9" name="记录负责人、期限和等待方&#10;再次分析关联原任务">
            <a:extLst xmlns:a="http://schemas.openxmlformats.org/drawingml/2006/main">
              <a:ext uri="{FF2B5EF4-FFF2-40B4-BE49-F238E27FC236}">
                <a16:creationId xmlns:a16="http://schemas.microsoft.com/office/drawing/2014/main" id="{1761E40F-6F82-4EE3-8ABD-216E51D0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1485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记录负责人、期限和等待方</a:t>
            </a:r>
          </a:p>
          <a:p xmlns:a="http://schemas.openxmlformats.org/drawingml/2006/main">
            <a: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再次分析关联原任务</a:t>
            </a:r>
          </a:p>
        </p:txBody>
      </p:sp>
      <p:sp>
        <p:nvSpPr>
          <p:cNvPr id="10" name="高风险任务可升级或重开，避免同一问题反复创建任务">
            <a:extLst xmlns:a="http://schemas.openxmlformats.org/drawingml/2006/main">
              <a:ext uri="{FF2B5EF4-FFF2-40B4-BE49-F238E27FC236}">
                <a16:creationId xmlns:a16="http://schemas.microsoft.com/office/drawing/2014/main" id="{72FFAC52-D3A9-4C74-B1C7-0908CD58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rPr>
              <a:t>高风险任务可升级或重开，避免同一问题反复创建任务</a:t>
            </a:r>
          </a:p>
        </p:txBody>
      </p:sp>
    </p:spTree>
    <p:extLst>
      <p:ext uri="{BB962C8B-B14F-4D97-AF65-F5344CB8AC3E}">
        <p14:creationId xmlns:p14="http://schemas.microsoft.com/office/powerpoint/2010/main" val="138988609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五阶段工作流与服务动作">
            <a:extLst xmlns:a="http://schemas.openxmlformats.org/drawingml/2006/main">
              <a:ext uri="{FF2B5EF4-FFF2-40B4-BE49-F238E27FC236}">
                <a16:creationId xmlns:a16="http://schemas.microsoft.com/office/drawing/2014/main" id="{4CCAB380-FAA9-4A09-BCB2-3ED0AC97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五阶段工作流与服务动作</a:t>
            </a:r>
          </a:p>
        </p:txBody>
      </p:sp>
      <p:sp>
        <p:nvSpPr>
          <p:cNvPr id="2" name="技术实现">
            <a:extLst xmlns:a="http://schemas.openxmlformats.org/drawingml/2006/main">
              <a:ext uri="{FF2B5EF4-FFF2-40B4-BE49-F238E27FC236}">
                <a16:creationId xmlns:a16="http://schemas.microsoft.com/office/drawing/2014/main" id="{31D2FB6A-F310-49FE-A8E9-FE95EA15F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技术实现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A0B04DCF-A5EA-4724-B572-5DBAAD6D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715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rPr>
              <a:t>12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068C9CA9-3C2F-449C-A9C1-13DDB1DA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812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36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01</a:t>
            </a:r>
          </a:p>
        </p:txBody>
      </p:sp>
      <p:sp>
        <p:nvSpPr>
          <p:cNvPr id="5" name="证据">
            <a:extLst xmlns:a="http://schemas.openxmlformats.org/drawingml/2006/main">
              <a:ext uri="{FF2B5EF4-FFF2-40B4-BE49-F238E27FC236}">
                <a16:creationId xmlns:a16="http://schemas.microsoft.com/office/drawing/2014/main" id="{92F2D1A2-D4A0-4A8B-80DF-3FFB7B93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47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证据</a:t>
            </a:r>
          </a:p>
        </p:txBody>
      </p:sp>
      <p:sp>
        <p:nvSpPr>
          <p:cNvPr id="6" name="关联当时记录&#10;沿用已有资料">
            <a:extLst xmlns:a="http://schemas.openxmlformats.org/drawingml/2006/main">
              <a:ext uri="{FF2B5EF4-FFF2-40B4-BE49-F238E27FC236}">
                <a16:creationId xmlns:a16="http://schemas.microsoft.com/office/drawing/2014/main" id="{1A8E2611-2906-4506-82F7-FDF00680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57575"/>
            <a:ext cx="1847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8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关联当时记录</a:t>
            </a:r>
          </a:p>
          <a:p xmlns:a="http://schemas.openxmlformats.org/drawingml/2006/main">
            <a:pPr>
              <a:defRPr sz="18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8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沿用已有资料</a:t>
            </a:r>
          </a:p>
        </p:txBody>
      </p:sp>
      <p:sp>
        <p:nvSpPr>
          <p:cNvPr id="7" name="减少重复追问">
            <a:extLst xmlns:a="http://schemas.openxmlformats.org/drawingml/2006/main">
              <a:ext uri="{FF2B5EF4-FFF2-40B4-BE49-F238E27FC236}">
                <a16:creationId xmlns:a16="http://schemas.microsoft.com/office/drawing/2014/main" id="{2A431007-C34D-4BD6-804F-F66CD243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767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8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减少重复追问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1C6D97-24EF-4133-B6A0-30BD37A8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952625" cy="3524250"/>
          </a:xfrm>
          <a:prstGeom xmlns:a="http://schemas.openxmlformats.org/drawingml/2006/main" prst="roundRect">
            <a:avLst>
              <a:gd name="adj" fmla="val 3902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90A9D"/>
            </a:solidFill>
            <a:prstDash val="solid"/>
          </a:ln>
        </p:spPr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B9A3717D-9C05-4658-BAC8-A7391634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812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36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02</a:t>
            </a:r>
          </a:p>
        </p:txBody>
      </p:sp>
      <p:sp>
        <p:nvSpPr>
          <p:cNvPr id="10" name="安全">
            <a:extLst xmlns:a="http://schemas.openxmlformats.org/drawingml/2006/main">
              <a:ext uri="{FF2B5EF4-FFF2-40B4-BE49-F238E27FC236}">
                <a16:creationId xmlns:a16="http://schemas.microsoft.com/office/drawing/2014/main" id="{26440EB7-E9BF-42A7-AD7D-CDD9D53E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7622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47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安全</a:t>
            </a:r>
          </a:p>
        </p:txBody>
      </p:sp>
      <p:sp>
        <p:nvSpPr>
          <p:cNvPr id="11" name="识别风险线索&#10;先登记任务">
            <a:extLst xmlns:a="http://schemas.openxmlformats.org/drawingml/2006/main">
              <a:ext uri="{FF2B5EF4-FFF2-40B4-BE49-F238E27FC236}">
                <a16:creationId xmlns:a16="http://schemas.microsoft.com/office/drawing/2014/main" id="{C3D56795-8AFC-4569-B3E8-8E3876885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57575"/>
            <a:ext cx="1847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8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识别风险线索</a:t>
            </a:r>
          </a:p>
          <a:p xmlns:a="http://schemas.openxmlformats.org/drawingml/2006/main">
            <a:pPr>
              <a:defRPr sz="18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8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先登记任务</a:t>
            </a:r>
          </a:p>
        </p:txBody>
      </p:sp>
      <p:sp>
        <p:nvSpPr>
          <p:cNvPr id="12" name="及时承接风险">
            <a:extLst xmlns:a="http://schemas.openxmlformats.org/drawingml/2006/main">
              <a:ext uri="{FF2B5EF4-FFF2-40B4-BE49-F238E27FC236}">
                <a16:creationId xmlns:a16="http://schemas.microsoft.com/office/drawing/2014/main" id="{EB125F1B-2D52-4DF7-99C7-42D5C332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6767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8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及时承接风险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9CEFCF-6A09-40F2-81BD-5C17D42A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09750"/>
            <a:ext cx="1952625" cy="3524250"/>
          </a:xfrm>
          <a:prstGeom xmlns:a="http://schemas.openxmlformats.org/drawingml/2006/main" prst="roundRect">
            <a:avLst>
              <a:gd name="adj" fmla="val 3902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90A9D"/>
            </a:solidFill>
            <a:prstDash val="solid"/>
          </a:ln>
        </p:spPr>
      </p:sp>
      <p:sp>
        <p:nvSpPr>
          <p:cNvPr id="14" name="03">
            <a:extLst xmlns:a="http://schemas.openxmlformats.org/drawingml/2006/main">
              <a:ext uri="{FF2B5EF4-FFF2-40B4-BE49-F238E27FC236}">
                <a16:creationId xmlns:a16="http://schemas.microsoft.com/office/drawing/2014/main" id="{C10CFB6A-792D-4DDC-9D5E-26275279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812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36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03</a:t>
            </a:r>
          </a:p>
        </p:txBody>
      </p:sp>
      <p:sp>
        <p:nvSpPr>
          <p:cNvPr id="15" name="起草">
            <a:extLst xmlns:a="http://schemas.openxmlformats.org/drawingml/2006/main">
              <a:ext uri="{FF2B5EF4-FFF2-40B4-BE49-F238E27FC236}">
                <a16:creationId xmlns:a16="http://schemas.microsoft.com/office/drawing/2014/main" id="{41732CB4-9B82-41AC-95A5-A50E2657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622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47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起草</a:t>
            </a:r>
          </a:p>
        </p:txBody>
      </p:sp>
      <p:sp>
        <p:nvSpPr>
          <p:cNvPr id="16" name="围绕当前诉求&#10;组织核查动作">
            <a:extLst xmlns:a="http://schemas.openxmlformats.org/drawingml/2006/main">
              <a:ext uri="{FF2B5EF4-FFF2-40B4-BE49-F238E27FC236}">
                <a16:creationId xmlns:a16="http://schemas.microsoft.com/office/drawing/2014/main" id="{8EAE5319-1D48-43CC-8608-EAC747E5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57575"/>
            <a:ext cx="1847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8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围绕当前诉求</a:t>
            </a:r>
          </a:p>
          <a:p xmlns:a="http://schemas.openxmlformats.org/drawingml/2006/main">
            <a:pPr>
              <a:defRPr sz="18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8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组织核查动作</a:t>
            </a:r>
          </a:p>
        </p:txBody>
      </p:sp>
      <p:sp>
        <p:nvSpPr>
          <p:cNvPr id="17" name="解释下一步">
            <a:extLst xmlns:a="http://schemas.openxmlformats.org/drawingml/2006/main">
              <a:ext uri="{FF2B5EF4-FFF2-40B4-BE49-F238E27FC236}">
                <a16:creationId xmlns:a16="http://schemas.microsoft.com/office/drawing/2014/main" id="{CC35C36E-407E-4954-A465-2281173C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6767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8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解释下一步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688A55-4F0C-456B-B454-091C7297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809750"/>
            <a:ext cx="1952625" cy="3524250"/>
          </a:xfrm>
          <a:prstGeom xmlns:a="http://schemas.openxmlformats.org/drawingml/2006/main" prst="roundRect">
            <a:avLst>
              <a:gd name="adj" fmla="val 3902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90A9D"/>
            </a:solidFill>
            <a:prstDash val="solid"/>
          </a:ln>
        </p:spPr>
      </p:sp>
      <p:sp>
        <p:nvSpPr>
          <p:cNvPr id="19" name="04">
            <a:extLst xmlns:a="http://schemas.openxmlformats.org/drawingml/2006/main">
              <a:ext uri="{FF2B5EF4-FFF2-40B4-BE49-F238E27FC236}">
                <a16:creationId xmlns:a16="http://schemas.microsoft.com/office/drawing/2014/main" id="{382602DC-3E4B-40A8-B05D-65B3DC3E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812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36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04</a:t>
            </a:r>
          </a:p>
        </p:txBody>
      </p:sp>
      <p:sp>
        <p:nvSpPr>
          <p:cNvPr id="20" name="校验">
            <a:extLst xmlns:a="http://schemas.openxmlformats.org/drawingml/2006/main">
              <a:ext uri="{FF2B5EF4-FFF2-40B4-BE49-F238E27FC236}">
                <a16:creationId xmlns:a16="http://schemas.microsoft.com/office/drawing/2014/main" id="{7C8B0AE0-2A96-435D-AD98-1DEA6278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7622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47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校验</a:t>
            </a:r>
          </a:p>
        </p:txBody>
      </p:sp>
      <p:sp>
        <p:nvSpPr>
          <p:cNvPr id="21" name="检查遗漏与承诺&#10;修正问题语句">
            <a:extLst xmlns:a="http://schemas.openxmlformats.org/drawingml/2006/main">
              <a:ext uri="{FF2B5EF4-FFF2-40B4-BE49-F238E27FC236}">
                <a16:creationId xmlns:a16="http://schemas.microsoft.com/office/drawing/2014/main" id="{15777F83-20B0-4E41-BA7E-BA1A96BA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57575"/>
            <a:ext cx="1847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8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检查遗漏与承诺</a:t>
            </a:r>
          </a:p>
          <a:p xmlns:a="http://schemas.openxmlformats.org/drawingml/2006/main">
            <a:pPr>
              <a:defRPr sz="18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8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修正问题语句</a:t>
            </a:r>
          </a:p>
        </p:txBody>
      </p:sp>
      <p:sp>
        <p:nvSpPr>
          <p:cNvPr id="22" name="避免无据承诺">
            <a:extLst xmlns:a="http://schemas.openxmlformats.org/drawingml/2006/main">
              <a:ext uri="{FF2B5EF4-FFF2-40B4-BE49-F238E27FC236}">
                <a16:creationId xmlns:a16="http://schemas.microsoft.com/office/drawing/2014/main" id="{57B26D47-5978-4E03-BC2E-8ECA769A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6767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8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避免无据承诺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B6787F-040A-4D2B-B631-3285FE09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09750"/>
            <a:ext cx="1952625" cy="3524250"/>
          </a:xfrm>
          <a:prstGeom xmlns:a="http://schemas.openxmlformats.org/drawingml/2006/main" prst="roundRect">
            <a:avLst>
              <a:gd name="adj" fmla="val 3902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90A9D"/>
            </a:solidFill>
            <a:prstDash val="solid"/>
          </a:ln>
        </p:spPr>
      </p:sp>
      <p:sp>
        <p:nvSpPr>
          <p:cNvPr id="24" name="05">
            <a:extLst xmlns:a="http://schemas.openxmlformats.org/drawingml/2006/main">
              <a:ext uri="{FF2B5EF4-FFF2-40B4-BE49-F238E27FC236}">
                <a16:creationId xmlns:a16="http://schemas.microsoft.com/office/drawing/2014/main" id="{33CD69DF-4E12-47B5-8551-8A9FBE7C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8120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36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05</a:t>
            </a:r>
          </a:p>
        </p:txBody>
      </p:sp>
      <p:sp>
        <p:nvSpPr>
          <p:cNvPr id="25" name="审计">
            <a:extLst xmlns:a="http://schemas.openxmlformats.org/drawingml/2006/main">
              <a:ext uri="{FF2B5EF4-FFF2-40B4-BE49-F238E27FC236}">
                <a16:creationId xmlns:a16="http://schemas.microsoft.com/office/drawing/2014/main" id="{65E5A166-13CB-4747-B664-3466F0E5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622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47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审计</a:t>
            </a:r>
          </a:p>
        </p:txBody>
      </p:sp>
      <p:sp>
        <p:nvSpPr>
          <p:cNvPr id="26" name="保留原稿与修正&#10;供客服复核">
            <a:extLst xmlns:a="http://schemas.openxmlformats.org/drawingml/2006/main">
              <a:ext uri="{FF2B5EF4-FFF2-40B4-BE49-F238E27FC236}">
                <a16:creationId xmlns:a16="http://schemas.microsoft.com/office/drawing/2014/main" id="{008BD584-3DB0-4EDA-94F4-60A7F5CA3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57575"/>
            <a:ext cx="1847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8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保留原稿与修正</a:t>
            </a:r>
          </a:p>
          <a:p xmlns:a="http://schemas.openxmlformats.org/drawingml/2006/main">
            <a:pPr>
              <a:defRPr sz="18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8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供客服复核</a:t>
            </a:r>
          </a:p>
        </p:txBody>
      </p:sp>
      <p:sp>
        <p:nvSpPr>
          <p:cNvPr id="27" name="支持人工追溯">
            <a:extLst xmlns:a="http://schemas.openxmlformats.org/drawingml/2006/main">
              <a:ext uri="{FF2B5EF4-FFF2-40B4-BE49-F238E27FC236}">
                <a16:creationId xmlns:a16="http://schemas.microsoft.com/office/drawing/2014/main" id="{CA88847F-BD37-4283-AD01-03EAA9B3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676775"/>
            <a:ext cx="190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8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支持人工追溯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4933CC-A8EC-480B-B219-9C16FD36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09750"/>
            <a:ext cx="1952625" cy="3524250"/>
          </a:xfrm>
          <a:prstGeom xmlns:a="http://schemas.openxmlformats.org/drawingml/2006/main" prst="roundRect">
            <a:avLst>
              <a:gd name="adj" fmla="val 3902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90A9D"/>
            </a:solidFill>
            <a:prstDash val="solid"/>
          </a:ln>
        </p:spPr>
      </p:sp>
      <p:sp>
        <p:nvSpPr>
          <p:cNvPr id="29" name="Flask + Socket.IO 工作台，LangGraph 编排，">
            <a:extLst xmlns:a="http://schemas.openxmlformats.org/drawingml/2006/main">
              <a:ext uri="{FF2B5EF4-FFF2-40B4-BE49-F238E27FC236}">
                <a16:creationId xmlns:a16="http://schemas.microsoft.com/office/drawing/2014/main" id="{B85ACE27-63A3-4F05-80AB-4E0DF5F2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rPr>
              <a:t>Flask + Socket.IO 工作台，LangGraph 编排，Qwen3:8b 本地推理，SQLite 保存记录</a:t>
            </a:r>
          </a:p>
        </p:txBody>
      </p:sp>
    </p:spTree>
    <p:extLst>
      <p:ext uri="{BB962C8B-B14F-4D97-AF65-F5344CB8AC3E}">
        <p14:creationId xmlns:p14="http://schemas.microsoft.com/office/powerpoint/2010/main" val="138988609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知识用途与调用成本一起约束">
            <a:extLst xmlns:a="http://schemas.openxmlformats.org/drawingml/2006/main">
              <a:ext uri="{FF2B5EF4-FFF2-40B4-BE49-F238E27FC236}">
                <a16:creationId xmlns:a16="http://schemas.microsoft.com/office/drawing/2014/main" id="{CC2C6CCA-D0CD-4317-B1B5-75CDD127C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知识用途与调用成本一起约束</a:t>
            </a:r>
          </a:p>
        </p:txBody>
      </p:sp>
      <p:sp>
        <p:nvSpPr>
          <p:cNvPr id="2" name="技术实现 · 生成策略">
            <a:extLst xmlns:a="http://schemas.openxmlformats.org/drawingml/2006/main">
              <a:ext uri="{FF2B5EF4-FFF2-40B4-BE49-F238E27FC236}">
                <a16:creationId xmlns:a16="http://schemas.microsoft.com/office/drawing/2014/main" id="{C85907DD-2DC0-410F-8662-123AC802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技术实现 · 生成策略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062A5587-58A8-4EC9-9751-78E06292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715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rPr>
              <a:t>13</a:t>
            </a:r>
          </a:p>
        </p:txBody>
      </p:sp>
      <p:sp>
        <p:nvSpPr>
          <p:cNvPr id="4" name="流程指导">
            <a:extLst xmlns:a="http://schemas.openxmlformats.org/drawingml/2006/main">
              <a:ext uri="{FF2B5EF4-FFF2-40B4-BE49-F238E27FC236}">
                <a16:creationId xmlns:a16="http://schemas.microsoft.com/office/drawing/2014/main" id="{1E4990A5-1300-41DB-BB6F-2F91CFFC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流程指导</a:t>
            </a:r>
          </a:p>
        </p:txBody>
      </p:sp>
      <p:sp>
        <p:nvSpPr>
          <p:cNvPr id="5" name="说明下一步如何核查与跟进&#10;不能替代产品事实证据">
            <a:extLst xmlns:a="http://schemas.openxmlformats.org/drawingml/2006/main">
              <a:ext uri="{FF2B5EF4-FFF2-40B4-BE49-F238E27FC236}">
                <a16:creationId xmlns:a16="http://schemas.microsoft.com/office/drawing/2014/main" id="{6D2089EB-08CA-42BA-A434-842B748C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19375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说明下一步如何核查与跟进</a:t>
            </a:r>
          </a:p>
          <a:p xmlns:a="http://schemas.openxmlformats.org/drawingml/2006/main">
            <a:pPr>
              <a:def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不能替代产品事实证据</a:t>
            </a:r>
          </a:p>
        </p:txBody>
      </p:sp>
      <p:sp>
        <p:nvSpPr>
          <p:cNvPr id="6" name="事实陈述">
            <a:extLst xmlns:a="http://schemas.openxmlformats.org/drawingml/2006/main">
              <a:ext uri="{FF2B5EF4-FFF2-40B4-BE49-F238E27FC236}">
                <a16:creationId xmlns:a16="http://schemas.microsoft.com/office/drawing/2014/main" id="{65A8507E-D3EF-4D80-B315-BDEFDE95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4667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事实陈述</a:t>
            </a:r>
          </a:p>
        </p:txBody>
      </p:sp>
      <p:sp>
        <p:nvSpPr>
          <p:cNvPr id="7" name="需要与问题匹配的来源与范围&#10;缺少依据时，保留待核查项">
            <a:extLst xmlns:a="http://schemas.openxmlformats.org/drawingml/2006/main">
              <a:ext uri="{FF2B5EF4-FFF2-40B4-BE49-F238E27FC236}">
                <a16:creationId xmlns:a16="http://schemas.microsoft.com/office/drawing/2014/main" id="{944F85E9-F298-4742-A550-13DC6864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19375"/>
            <a:ext cx="4667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需要与问题匹配的来源与范围</a:t>
            </a:r>
          </a:p>
          <a:p xmlns:a="http://schemas.openxmlformats.org/drawingml/2006/main">
            <a:pPr>
              <a:def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7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缺少依据时，保留待核查项</a:t>
            </a:r>
          </a:p>
        </p:txBody>
      </p:sp>
      <p:sp>
        <p:nvSpPr>
          <p:cNvPr id="8" name="调用按问题需要分配">
            <a:extLst xmlns:a="http://schemas.openxmlformats.org/drawingml/2006/main">
              <a:ext uri="{FF2B5EF4-FFF2-40B4-BE49-F238E27FC236}">
                <a16:creationId xmlns:a16="http://schemas.microsoft.com/office/drawing/2014/main" id="{98E2F4C4-EE1E-435B-8F7A-47B004DB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8147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调用按问题需要分配</a:t>
            </a:r>
          </a:p>
        </p:txBody>
      </p:sp>
      <p:sp>
        <p:nvSpPr>
          <p:cNvPr id="9" name="低风险有限证据路径可减少模型调用，缓存同时区分会话与证据范围。&#10;不增加">
            <a:extLst xmlns:a="http://schemas.openxmlformats.org/drawingml/2006/main">
              <a:ext uri="{FF2B5EF4-FFF2-40B4-BE49-F238E27FC236}">
                <a16:creationId xmlns:a16="http://schemas.microsoft.com/office/drawing/2014/main" id="{353DE5A1-1B94-47FD-9EE4-4E86951D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72025"/>
            <a:ext cx="103822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95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低风险有限证据路径可减少模型调用，缓存同时区分会话与证据范围。</a:t>
            </a:r>
          </a:p>
          <a:p xmlns:a="http://schemas.openxmlformats.org/drawingml/2006/main">
            <a:pPr>
              <a:defRPr sz="195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95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不增加额外的分类模型调用，避免为分流再支付一次生成成本。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1C3CEF-E07A-4401-9F4E-B726F543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5143500" cy="2095500"/>
          </a:xfrm>
          <a:prstGeom xmlns:a="http://schemas.openxmlformats.org/drawingml/2006/main" prst="roundRect">
            <a:avLst>
              <a:gd name="adj" fmla="val 3636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90A9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EA100-7C88-48CF-9E1F-E7E2A2BB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57375"/>
            <a:ext cx="5143500" cy="2095500"/>
          </a:xfrm>
          <a:prstGeom xmlns:a="http://schemas.openxmlformats.org/drawingml/2006/main" prst="roundRect">
            <a:avLst>
              <a:gd name="adj" fmla="val 3636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90A9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2A256D-3AE7-49C2-B411-E31B8988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48125"/>
            <a:ext cx="10763250" cy="1666875"/>
          </a:xfrm>
          <a:prstGeom xmlns:a="http://schemas.openxmlformats.org/drawingml/2006/main" prst="roundRect">
            <a:avLst>
              <a:gd name="adj" fmla="val 457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90A9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8988609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关键行为与当前回归结果">
            <a:extLst xmlns:a="http://schemas.openxmlformats.org/drawingml/2006/main">
              <a:ext uri="{FF2B5EF4-FFF2-40B4-BE49-F238E27FC236}">
                <a16:creationId xmlns:a16="http://schemas.microsoft.com/office/drawing/2014/main" id="{C97D02C1-AD94-49E2-B3AE-BCC243ED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关键行为与当前回归结果</a:t>
            </a:r>
          </a:p>
        </p:txBody>
      </p:sp>
      <p:sp>
        <p:nvSpPr>
          <p:cNvPr id="2" name="作品验证">
            <a:extLst xmlns:a="http://schemas.openxmlformats.org/drawingml/2006/main">
              <a:ext uri="{FF2B5EF4-FFF2-40B4-BE49-F238E27FC236}">
                <a16:creationId xmlns:a16="http://schemas.microsoft.com/office/drawing/2014/main" id="{64289643-6149-48B7-8D64-35B45480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作品验证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208B581E-30E9-455E-9954-687F74A3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715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rPr>
              <a:t>14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37DF1-4602-4D59-9BB8-007F68995895}"/>
              </a:ext>
            </a:extLst>
          </p:cNvPr>
          <p:cNvGraphicFramePr/>
          <p:nvPr/>
        </p:nvGraphicFramePr>
        <p:xfrm>
          <a:off xmlns:a="http://schemas.openxmlformats.org/drawingml/2006/main" x="857250" y="1952625"/>
          <a:ext xmlns:a="http://schemas.openxmlformats.org/drawingml/2006/main" cx="104775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4381500"/>
                <a:gridCol w="3619500"/>
              </a:tblGrid>
              <a:tr h="533400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思源黑体 CN Bold"/>
                          <a:ea typeface="思源黑体 CN Bold"/>
                          <a:cs typeface="思源黑体 CN Bold"/>
                        </a:rPr>
                        <a:t>验证层面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4DDE8"/>
                      </a:solidFill>
                    </a:lnL>
                    <a:lnR w="9525">
                      <a:solidFill>
                        <a:srgbClr val="E4DDE8"/>
                      </a:solidFill>
                    </a:lnR>
                    <a:lnT w="9525">
                      <a:solidFill>
                        <a:srgbClr val="E4DDE8"/>
                      </a:solidFill>
                    </a:lnT>
                    <a:lnB w="9525">
                      <a:solidFill>
                        <a:srgbClr val="E4DDE8"/>
                      </a:solidFill>
                    </a:lnB>
                    <a:solidFill>
                      <a:srgbClr val="790A9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思源黑体 CN Bold"/>
                          <a:ea typeface="思源黑体 CN Bold"/>
                          <a:cs typeface="思源黑体 CN Bold"/>
                        </a:rPr>
                        <a:t>检查什么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4DDE8"/>
                      </a:solidFill>
                    </a:lnR>
                    <a:lnT w="9525">
                      <a:solidFill>
                        <a:srgbClr val="E4DDE8"/>
                      </a:solidFill>
                    </a:lnT>
                    <a:lnB w="9525">
                      <a:solidFill>
                        <a:srgbClr val="E4DDE8"/>
                      </a:solidFill>
                    </a:lnB>
                    <a:solidFill>
                      <a:srgbClr val="790A9D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思源黑体 CN Bold"/>
                          <a:ea typeface="思源黑体 CN Bold"/>
                          <a:cs typeface="思源黑体 CN Bold"/>
                        </a:rPr>
                        <a:t>已有结果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4DDE8"/>
                      </a:solidFill>
                    </a:lnR>
                    <a:lnT w="9525">
                      <a:solidFill>
                        <a:srgbClr val="E4DDE8"/>
                      </a:solidFill>
                    </a:lnT>
                    <a:lnB w="9525">
                      <a:solidFill>
                        <a:srgbClr val="E4DDE8"/>
                      </a:solidFill>
                    </a:lnB>
                    <a:solidFill>
                      <a:srgbClr val="790A9D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F2F2F"/>
                          </a:solidFill>
                          <a:latin typeface="思源黑体 CN Light"/>
                          <a:ea typeface="思源黑体 CN Light"/>
                          <a:cs typeface="思源黑体 CN Light"/>
                        </a:rPr>
                        <a:t>时点与事项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4DDE8"/>
                      </a:solidFill>
                    </a:lnL>
                    <a:lnR w="9525">
                      <a:solidFill>
                        <a:srgbClr val="E4DDE8"/>
                      </a:solidFill>
                    </a:lnR>
                    <a:lnB w="9525">
                      <a:solidFill>
                        <a:srgbClr val="E4DD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F2F2F"/>
                          </a:solidFill>
                          <a:latin typeface="思源黑体 CN Light"/>
                          <a:ea typeface="思源黑体 CN Light"/>
                          <a:cs typeface="思源黑体 CN Light"/>
                        </a:rPr>
                        <a:t>未来记录排除、局部解决、资料延续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4DDE8"/>
                      </a:solidFill>
                    </a:lnR>
                    <a:lnB w="9525">
                      <a:solidFill>
                        <a:srgbClr val="E4DD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F2F2F"/>
                          </a:solidFill>
                          <a:latin typeface="思源黑体 CN Light"/>
                          <a:ea typeface="思源黑体 CN Light"/>
                          <a:cs typeface="思源黑体 CN Light"/>
                        </a:rPr>
                        <a:t>相关行为纳入软件回归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4DDE8"/>
                      </a:solidFill>
                    </a:lnR>
                    <a:lnB w="9525">
                      <a:solidFill>
                        <a:srgbClr val="E4DD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F2F2F"/>
                          </a:solidFill>
                          <a:latin typeface="思源黑体 CN Light"/>
                          <a:ea typeface="思源黑体 CN Light"/>
                          <a:cs typeface="思源黑体 CN Light"/>
                        </a:rPr>
                        <a:t>软件回归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4DDE8"/>
                      </a:solidFill>
                    </a:lnL>
                    <a:lnR w="9525">
                      <a:solidFill>
                        <a:srgbClr val="E4DDE8"/>
                      </a:solidFill>
                    </a:lnR>
                    <a:lnB w="9525">
                      <a:solidFill>
                        <a:srgbClr val="E4DD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F2F2F"/>
                          </a:solidFill>
                          <a:latin typeface="思源黑体 CN Light"/>
                          <a:ea typeface="思源黑体 CN Light"/>
                          <a:cs typeface="思源黑体 CN Light"/>
                        </a:rPr>
                        <a:t>含风险任务、人工操作与回复校验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4DDE8"/>
                      </a:solidFill>
                    </a:lnR>
                    <a:lnB w="9525">
                      <a:solidFill>
                        <a:srgbClr val="E4DD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F2F2F"/>
                          </a:solidFill>
                          <a:latin typeface="思源黑体 CN Light"/>
                          <a:ea typeface="思源黑体 CN Light"/>
                          <a:cs typeface="思源黑体 CN Light"/>
                        </a:rPr>
                        <a:t>441 通过 / 3 跳过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4DDE8"/>
                      </a:solidFill>
                    </a:lnR>
                    <a:lnB w="9525">
                      <a:solidFill>
                        <a:srgbClr val="E4DD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F2F2F"/>
                          </a:solidFill>
                          <a:latin typeface="思源黑体 CN Light"/>
                          <a:ea typeface="思源黑体 CN Light"/>
                          <a:cs typeface="思源黑体 CN Light"/>
                        </a:rPr>
                        <a:t>20 条固定案例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4DDE8"/>
                      </a:solidFill>
                    </a:lnL>
                    <a:lnR w="9525">
                      <a:solidFill>
                        <a:srgbClr val="E4DDE8"/>
                      </a:solidFill>
                    </a:lnR>
                    <a:lnB w="9525">
                      <a:solidFill>
                        <a:srgbClr val="E4DD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F2F2F"/>
                          </a:solidFill>
                          <a:latin typeface="思源黑体 CN Light"/>
                          <a:ea typeface="思源黑体 CN Light"/>
                          <a:cs typeface="思源黑体 CN Light"/>
                        </a:rPr>
                        <a:t>条件、暂缓、多订单与风险表达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4DDE8"/>
                      </a:solidFill>
                    </a:lnR>
                    <a:lnB w="9525">
                      <a:solidFill>
                        <a:srgbClr val="E4DD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F2F2F"/>
                          </a:solidFill>
                          <a:latin typeface="思源黑体 CN Light"/>
                          <a:ea typeface="思源黑体 CN Light"/>
                          <a:cs typeface="思源黑体 CN Light"/>
                        </a:rPr>
                        <a:t>意图与处理焦点各 20/20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4DDE8"/>
                      </a:solidFill>
                    </a:lnR>
                    <a:lnB w="9525">
                      <a:solidFill>
                        <a:srgbClr val="E4DD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F2F2F"/>
                          </a:solidFill>
                          <a:latin typeface="思源黑体 CN Light"/>
                          <a:ea typeface="思源黑体 CN Light"/>
                          <a:cs typeface="思源黑体 CN Light"/>
                        </a:rPr>
                        <a:t>模型运行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E4DDE8"/>
                      </a:solidFill>
                    </a:lnL>
                    <a:lnR w="9525">
                      <a:solidFill>
                        <a:srgbClr val="E4DDE8"/>
                      </a:solidFill>
                    </a:lnR>
                    <a:lnB w="9525">
                      <a:solidFill>
                        <a:srgbClr val="E4DD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F2F2F"/>
                          </a:solidFill>
                          <a:latin typeface="思源黑体 CN Light"/>
                          <a:ea typeface="思源黑体 CN Light"/>
                          <a:cs typeface="思源黑体 CN Light"/>
                        </a:rPr>
                        <a:t>实际生成与自动规则检查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4DDE8"/>
                      </a:solidFill>
                    </a:lnR>
                    <a:lnB w="9525">
                      <a:solidFill>
                        <a:srgbClr val="E4DD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F2F2F"/>
                          </a:solidFill>
                          <a:latin typeface="思源黑体 CN Light"/>
                          <a:ea typeface="思源黑体 CN Light"/>
                          <a:cs typeface="思源黑体 CN Light"/>
                        </a:rPr>
                        <a:t>19 生成 / 1 超时降级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E4DDE8"/>
                      </a:solidFill>
                    </a:lnR>
                    <a:lnB w="9525">
                      <a:solidFill>
                        <a:srgbClr val="E4DD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固定案例参与了开发，匹配结果含降级路径；人工质量与实际提效待验证。">
            <a:extLst xmlns:a="http://schemas.openxmlformats.org/drawingml/2006/main">
              <a:ext uri="{FF2B5EF4-FFF2-40B4-BE49-F238E27FC236}">
                <a16:creationId xmlns:a16="http://schemas.microsoft.com/office/drawing/2014/main" id="{E6FDCC54-AE2E-4826-9337-16494E88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768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8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固定案例参与了开发，匹配结果含降级路径；人工质量与实际提效待验证。</a:t>
            </a:r>
          </a:p>
        </p:txBody>
      </p:sp>
      <p:sp>
        <p:nvSpPr>
          <p:cNvPr id="6" name="测量日期 2026-10-15，版本 compact-v13-serv">
            <a:extLst xmlns:a="http://schemas.openxmlformats.org/drawingml/2006/main">
              <a:ext uri="{FF2B5EF4-FFF2-40B4-BE49-F238E27FC236}">
                <a16:creationId xmlns:a16="http://schemas.microsoft.com/office/drawing/2014/main" id="{FEEE20A7-B101-4AED-A9EB-FCB41351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rPr>
              <a:t>测量日期 2026-10-15，版本 compact-v13-service-continuity-1</a:t>
            </a:r>
          </a:p>
        </p:txBody>
      </p:sp>
    </p:spTree>
    <p:extLst>
      <p:ext uri="{BB962C8B-B14F-4D97-AF65-F5344CB8AC3E}">
        <p14:creationId xmlns:p14="http://schemas.microsoft.com/office/powerpoint/2010/main" val="138988609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生成等待与超时后的接待方式">
            <a:extLst xmlns:a="http://schemas.openxmlformats.org/drawingml/2006/main">
              <a:ext uri="{FF2B5EF4-FFF2-40B4-BE49-F238E27FC236}">
                <a16:creationId xmlns:a16="http://schemas.microsoft.com/office/drawing/2014/main" id="{00340539-2CB4-47D2-BA35-07A3D773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生成等待与超时后的接待方式</a:t>
            </a:r>
          </a:p>
        </p:txBody>
      </p:sp>
      <p:sp>
        <p:nvSpPr>
          <p:cNvPr id="2" name="使用体验">
            <a:extLst xmlns:a="http://schemas.openxmlformats.org/drawingml/2006/main">
              <a:ext uri="{FF2B5EF4-FFF2-40B4-BE49-F238E27FC236}">
                <a16:creationId xmlns:a16="http://schemas.microsoft.com/office/drawing/2014/main" id="{1FC7ABCB-F7FF-47EF-8267-B93A2F3E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使用体验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F13D72F5-03EB-486D-9835-FD3F7B9A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715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rPr>
              <a:t>15</a:t>
            </a:r>
          </a:p>
        </p:txBody>
      </p:sp>
      <p:sp>
        <p:nvSpPr>
          <p:cNvPr id="4" name="10.13 秒">
            <a:extLst xmlns:a="http://schemas.openxmlformats.org/drawingml/2006/main">
              <a:ext uri="{FF2B5EF4-FFF2-40B4-BE49-F238E27FC236}">
                <a16:creationId xmlns:a16="http://schemas.microsoft.com/office/drawing/2014/main" id="{92ED6559-28AB-4D5E-8187-BAF0DC21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5625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5625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5625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10.13 秒</a:t>
            </a:r>
          </a:p>
        </p:txBody>
      </p:sp>
      <p:sp>
        <p:nvSpPr>
          <p:cNvPr id="5" name="20 次请求的中位耗时">
            <a:extLst xmlns:a="http://schemas.openxmlformats.org/drawingml/2006/main">
              <a:ext uri="{FF2B5EF4-FFF2-40B4-BE49-F238E27FC236}">
                <a16:creationId xmlns:a16="http://schemas.microsoft.com/office/drawing/2014/main" id="{DE390901-36FF-4B6E-8B0E-D50F0D30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9925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17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20 次请求的中位耗时</a:t>
            </a:r>
          </a:p>
        </p:txBody>
      </p:sp>
      <p:sp>
        <p:nvSpPr>
          <p:cNvPr id="6" name="19 次生成，1 次超时降级&#10;成功生成中位耗时 10.01 秒">
            <a:extLst xmlns:a="http://schemas.openxmlformats.org/drawingml/2006/main">
              <a:ext uri="{FF2B5EF4-FFF2-40B4-BE49-F238E27FC236}">
                <a16:creationId xmlns:a16="http://schemas.microsoft.com/office/drawing/2014/main" id="{F1AF3ADC-C1EE-4A78-9B8A-A549624B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67175"/>
            <a:ext cx="5048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19 次生成，1 次超时降级</a:t>
            </a:r>
          </a:p>
          <a:p xmlns:a="http://schemas.openxmlformats.org/drawingml/2006/main">
            <a: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成功生成中位耗时 10.01 秒</a:t>
            </a:r>
          </a:p>
        </p:txBody>
      </p:sp>
      <p:sp>
        <p:nvSpPr>
          <p:cNvPr id="7" name="等待期间">
            <a:extLst xmlns:a="http://schemas.openxmlformats.org/drawingml/2006/main">
              <a:ext uri="{FF2B5EF4-FFF2-40B4-BE49-F238E27FC236}">
                <a16:creationId xmlns:a16="http://schemas.microsoft.com/office/drawing/2014/main" id="{97878C69-C942-4761-8B12-614D20AA7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3835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等待期间</a:t>
            </a:r>
          </a:p>
        </p:txBody>
      </p:sp>
      <p:sp>
        <p:nvSpPr>
          <p:cNvPr id="8" name="客服可核对服务记录与待核事项。&#10;风险任务在模型生成前登记。">
            <a:extLst xmlns:a="http://schemas.openxmlformats.org/drawingml/2006/main">
              <a:ext uri="{FF2B5EF4-FFF2-40B4-BE49-F238E27FC236}">
                <a16:creationId xmlns:a16="http://schemas.microsoft.com/office/drawing/2014/main" id="{334CE188-AC70-4AC6-8ED3-5ECA3E03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38425"/>
            <a:ext cx="4333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客服可核对服务记录与待核事项。</a:t>
            </a:r>
          </a:p>
          <a:p xmlns:a="http://schemas.openxmlformats.org/drawingml/2006/main">
            <a: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风险任务在模型生成前登记。</a:t>
            </a:r>
          </a:p>
        </p:txBody>
      </p:sp>
      <p:sp>
        <p:nvSpPr>
          <p:cNvPr id="9" name="超时之后">
            <a:extLst xmlns:a="http://schemas.openxmlformats.org/drawingml/2006/main">
              <a:ext uri="{FF2B5EF4-FFF2-40B4-BE49-F238E27FC236}">
                <a16:creationId xmlns:a16="http://schemas.microsoft.com/office/drawing/2014/main" id="{D38D8905-7696-425D-B37D-66A75D75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76700"/>
            <a:ext cx="433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超时之后</a:t>
            </a:r>
          </a:p>
        </p:txBody>
      </p:sp>
      <p:sp>
        <p:nvSpPr>
          <p:cNvPr id="10" name="保留证据与降级提示，&#10;由客服继续核查和回复。">
            <a:extLst xmlns:a="http://schemas.openxmlformats.org/drawingml/2006/main">
              <a:ext uri="{FF2B5EF4-FFF2-40B4-BE49-F238E27FC236}">
                <a16:creationId xmlns:a16="http://schemas.microsoft.com/office/drawing/2014/main" id="{24363333-2A1F-47C1-A405-94D105B92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676775"/>
            <a:ext cx="4333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保留证据与降级提示，</a:t>
            </a:r>
          </a:p>
          <a:p xmlns:a="http://schemas.openxmlformats.org/drawingml/2006/main">
            <a: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由客服继续核查和回复。</a:t>
            </a:r>
          </a:p>
        </p:txBody>
      </p:sp>
      <p:sp>
        <p:nvSpPr>
          <p:cNvPr id="11" name="固定本机案例，单次超时 25 秒；尚未测量实际客服处理用时与并发表现">
            <a:extLst xmlns:a="http://schemas.openxmlformats.org/drawingml/2006/main">
              <a:ext uri="{FF2B5EF4-FFF2-40B4-BE49-F238E27FC236}">
                <a16:creationId xmlns:a16="http://schemas.microsoft.com/office/drawing/2014/main" id="{E06BF3B8-AAC5-42F8-9093-A63FD5EF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rPr>
              <a:t>固定本机案例，单次超时 25 秒；尚未测量实际客服处理用时与并发表现</a:t>
            </a:r>
          </a:p>
        </p:txBody>
      </p:sp>
    </p:spTree>
    <p:extLst>
      <p:ext uri="{BB962C8B-B14F-4D97-AF65-F5344CB8AC3E}">
        <p14:creationId xmlns:p14="http://schemas.microsoft.com/office/powerpoint/2010/main" val="138988609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作品价值由具体功能承接">
            <a:extLst xmlns:a="http://schemas.openxmlformats.org/drawingml/2006/main">
              <a:ext uri="{FF2B5EF4-FFF2-40B4-BE49-F238E27FC236}">
                <a16:creationId xmlns:a16="http://schemas.microsoft.com/office/drawing/2014/main" id="{6037406F-ED0B-48D4-ADC1-C435D89D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作品价值由具体功能承接</a:t>
            </a:r>
          </a:p>
        </p:txBody>
      </p:sp>
      <p:sp>
        <p:nvSpPr>
          <p:cNvPr id="2" name="作品价值">
            <a:extLst xmlns:a="http://schemas.openxmlformats.org/drawingml/2006/main">
              <a:ext uri="{FF2B5EF4-FFF2-40B4-BE49-F238E27FC236}">
                <a16:creationId xmlns:a16="http://schemas.microsoft.com/office/drawing/2014/main" id="{9AF27C0F-5874-487C-965B-27FA2ADB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作品价值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A204F805-34FA-4379-B51F-FEE4FF2B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715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rPr>
              <a:t>16</a:t>
            </a:r>
          </a:p>
        </p:txBody>
      </p:sp>
      <p:sp>
        <p:nvSpPr>
          <p:cNvPr id="4" name="消费者">
            <a:extLst xmlns:a="http://schemas.openxmlformats.org/drawingml/2006/main">
              <a:ext uri="{FF2B5EF4-FFF2-40B4-BE49-F238E27FC236}">
                <a16:creationId xmlns:a16="http://schemas.microsoft.com/office/drawing/2014/main" id="{9955905A-FAA5-4088-B42C-8B929405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238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5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消费者</a:t>
            </a:r>
          </a:p>
        </p:txBody>
      </p:sp>
      <p:sp>
        <p:nvSpPr>
          <p:cNvPr id="5" name="减少反复解释的负担">
            <a:extLst xmlns:a="http://schemas.openxmlformats.org/drawingml/2006/main">
              <a:ext uri="{FF2B5EF4-FFF2-40B4-BE49-F238E27FC236}">
                <a16:creationId xmlns:a16="http://schemas.microsoft.com/office/drawing/2014/main" id="{349D8917-B016-4434-9D78-324D3E4D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478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32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减少反复解释的负担</a:t>
            </a:r>
          </a:p>
        </p:txBody>
      </p:sp>
      <p:sp>
        <p:nvSpPr>
          <p:cNvPr id="6" name="已有资料进入回复计划，等待和顾虑得到针对性回应">
            <a:extLst xmlns:a="http://schemas.openxmlformats.org/drawingml/2006/main">
              <a:ext uri="{FF2B5EF4-FFF2-40B4-BE49-F238E27FC236}">
                <a16:creationId xmlns:a16="http://schemas.microsoft.com/office/drawing/2014/main" id="{745DBAE1-9BBE-4C47-AC9A-949EEFAE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0982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已有资料进入回复计划，等待和顾虑得到针对性回应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E5BFBB-6B3F-4043-ADF0-C2694A28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0620375" cy="87630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90A9D"/>
            </a:solidFill>
            <a:prstDash val="solid"/>
          </a:ln>
        </p:spPr>
      </p:sp>
      <p:sp>
        <p:nvSpPr>
          <p:cNvPr id="8" name="客服">
            <a:extLst xmlns:a="http://schemas.openxmlformats.org/drawingml/2006/main">
              <a:ext uri="{FF2B5EF4-FFF2-40B4-BE49-F238E27FC236}">
                <a16:creationId xmlns:a16="http://schemas.microsoft.com/office/drawing/2014/main" id="{F7E3CE0B-A910-4A98-9FD5-4F58E9AE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238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5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客服</a:t>
            </a:r>
          </a:p>
        </p:txBody>
      </p:sp>
      <p:sp>
        <p:nvSpPr>
          <p:cNvPr id="9" name="将查找与起草转为核对与处理">
            <a:extLst xmlns:a="http://schemas.openxmlformats.org/drawingml/2006/main">
              <a:ext uri="{FF2B5EF4-FFF2-40B4-BE49-F238E27FC236}">
                <a16:creationId xmlns:a16="http://schemas.microsoft.com/office/drawing/2014/main" id="{495BD55D-5B24-4BDB-B0CF-51451A00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62300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32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将查找与起草转为核对与处理</a:t>
            </a:r>
          </a:p>
        </p:txBody>
      </p:sp>
      <p:sp>
        <p:nvSpPr>
          <p:cNvPr id="10" name="服务记录集中展示，草稿附带待核事项并支持人工修改">
            <a:extLst xmlns:a="http://schemas.openxmlformats.org/drawingml/2006/main">
              <a:ext uri="{FF2B5EF4-FFF2-40B4-BE49-F238E27FC236}">
                <a16:creationId xmlns:a16="http://schemas.microsoft.com/office/drawing/2014/main" id="{69626DF5-34AC-4311-B303-AF42E520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2425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服务记录集中展示，草稿附带待核事项并支持人工修改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73007-55FC-4687-AD3A-39D4ED12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10620375" cy="87630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90A9D"/>
            </a:solidFill>
            <a:prstDash val="solid"/>
          </a:ln>
        </p:spPr>
      </p:sp>
      <p:sp>
        <p:nvSpPr>
          <p:cNvPr id="12" name="服务管理">
            <a:extLst xmlns:a="http://schemas.openxmlformats.org/drawingml/2006/main">
              <a:ext uri="{FF2B5EF4-FFF2-40B4-BE49-F238E27FC236}">
                <a16:creationId xmlns:a16="http://schemas.microsoft.com/office/drawing/2014/main" id="{CC9B3745-7804-46B7-98AD-44257BD74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76725"/>
            <a:ext cx="2381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5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服务管理</a:t>
            </a:r>
          </a:p>
        </p:txBody>
      </p:sp>
      <p:sp>
        <p:nvSpPr>
          <p:cNvPr id="13" name="让未完成事项持续可见">
            <a:extLst xmlns:a="http://schemas.openxmlformats.org/drawingml/2006/main">
              <a:ext uri="{FF2B5EF4-FFF2-40B4-BE49-F238E27FC236}">
                <a16:creationId xmlns:a16="http://schemas.microsoft.com/office/drawing/2014/main" id="{AA4AAEC3-A312-400B-81CD-4733F52B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767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325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让未完成事项持续可见</a:t>
            </a:r>
          </a:p>
        </p:txBody>
      </p:sp>
      <p:sp>
        <p:nvSpPr>
          <p:cNvPr id="14" name="风险关联会话与负责人，保留期限、状态和重开原因">
            <a:extLst xmlns:a="http://schemas.openxmlformats.org/drawingml/2006/main">
              <a:ext uri="{FF2B5EF4-FFF2-40B4-BE49-F238E27FC236}">
                <a16:creationId xmlns:a16="http://schemas.microsoft.com/office/drawing/2014/main" id="{F463A39A-7840-4974-B241-6E9D264A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386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725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风险关联会话与负责人，保留期限、状态和重开原因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ABAF61-27F6-473F-A8E6-43E7BFF2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86225"/>
            <a:ext cx="10620375" cy="876300"/>
          </a:xfrm>
          <a:prstGeom xmlns:a="http://schemas.openxmlformats.org/drawingml/2006/main" prst="roundRect">
            <a:avLst>
              <a:gd name="adj" fmla="val 8696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90A9D"/>
            </a:solidFill>
            <a:prstDash val="solid"/>
          </a:ln>
        </p:spPr>
      </p:sp>
      <p:sp>
        <p:nvSpPr>
          <p:cNvPr id="16" name="以上为现有机制支持的预期价值，真实提效与满意度等待人工接待试用验证">
            <a:extLst xmlns:a="http://schemas.openxmlformats.org/drawingml/2006/main">
              <a:ext uri="{FF2B5EF4-FFF2-40B4-BE49-F238E27FC236}">
                <a16:creationId xmlns:a16="http://schemas.microsoft.com/office/drawing/2014/main" id="{1501F1D6-DAB6-4BFE-A459-4E51CF9B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12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rPr>
              <a:t>以上为现有机制支持的预期价值，真实提效与满意度等待人工接待试用验证</a:t>
            </a:r>
          </a:p>
        </p:txBody>
      </p:sp>
    </p:spTree>
    <p:extLst>
      <p:ext uri="{BB962C8B-B14F-4D97-AF65-F5344CB8AC3E}">
        <p14:creationId xmlns:p14="http://schemas.microsoft.com/office/powerpoint/2010/main" val="138988609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未来完善围绕服务理解继续展开">
            <a:extLst xmlns:a="http://schemas.openxmlformats.org/drawingml/2006/main">
              <a:ext uri="{FF2B5EF4-FFF2-40B4-BE49-F238E27FC236}">
                <a16:creationId xmlns:a16="http://schemas.microsoft.com/office/drawing/2014/main" id="{30A4F9ED-3A3D-4EA3-BDAB-DD5CCE30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80010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3900" b="1">
                <a:solidFill>
                  <a:srgbClr val="2F2F2F"/>
                </a:solidFill>
                <a:latin typeface="思源黑体 CN Bold"/>
                <a:ea typeface="思源黑体 CN Bold"/>
                <a:cs typeface="思源黑体 CN Bold"/>
              </a:rPr>
              <a:t>未来完善围绕服务理解继续展开</a:t>
            </a:r>
          </a:p>
        </p:txBody>
      </p:sp>
      <p:sp>
        <p:nvSpPr>
          <p:cNvPr id="2" name="未来完善方向">
            <a:extLst xmlns:a="http://schemas.openxmlformats.org/drawingml/2006/main">
              <a:ext uri="{FF2B5EF4-FFF2-40B4-BE49-F238E27FC236}">
                <a16:creationId xmlns:a16="http://schemas.microsoft.com/office/drawing/2014/main" id="{FE8A8547-BFF3-4DDC-8A83-F58FCD36A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120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未来完善方向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FCAF2D73-56F0-4516-8573-BBA585BAA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7150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1275" b="0">
                <a:solidFill>
                  <a:srgbClr val="64606B"/>
                </a:solidFill>
                <a:latin typeface="思源黑体 CN Light"/>
                <a:ea typeface="思源黑体 CN Light"/>
                <a:cs typeface="思源黑体 CN Light"/>
              </a:rPr>
              <a:t>17</a:t>
            </a:r>
          </a:p>
        </p:txBody>
      </p:sp>
      <p:sp>
        <p:nvSpPr>
          <p:cNvPr id="4" name="更多自然表达">
            <a:extLst xmlns:a="http://schemas.openxmlformats.org/drawingml/2006/main">
              <a:ext uri="{FF2B5EF4-FFF2-40B4-BE49-F238E27FC236}">
                <a16:creationId xmlns:a16="http://schemas.microsoft.com/office/drawing/2014/main" id="{F8DB3FE7-C962-41F1-813E-79981599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288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更多自然表达</a:t>
            </a:r>
          </a:p>
        </p:txBody>
      </p:sp>
      <p:sp>
        <p:nvSpPr>
          <p:cNvPr id="5" name="扩展含蓄诉求、否定和条件表达，&#10;通过独立样本检查多轮事项的连续性。">
            <a:extLst xmlns:a="http://schemas.openxmlformats.org/drawingml/2006/main">
              <a:ext uri="{FF2B5EF4-FFF2-40B4-BE49-F238E27FC236}">
                <a16:creationId xmlns:a16="http://schemas.microsoft.com/office/drawing/2014/main" id="{0E6BCB3B-EC33-437B-96AB-C933343D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扩展含蓄诉求、否定和条件表达，</a:t>
            </a:r>
          </a:p>
          <a:p xmlns:a="http://schemas.openxmlformats.org/drawingml/2006/main">
            <a: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通过独立样本检查多轮事项的连续性。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208A02-95D6-4924-A061-74A86F268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38325"/>
            <a:ext cx="5286375" cy="1666875"/>
          </a:xfrm>
          <a:prstGeom xmlns:a="http://schemas.openxmlformats.org/drawingml/2006/main" prst="roundRect">
            <a:avLst>
              <a:gd name="adj" fmla="val 457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90A9D"/>
            </a:solidFill>
            <a:prstDash val="solid"/>
          </a:ln>
        </p:spPr>
      </p:sp>
      <p:sp>
        <p:nvSpPr>
          <p:cNvPr id="7" name="附件理解">
            <a:extLst xmlns:a="http://schemas.openxmlformats.org/drawingml/2006/main">
              <a:ext uri="{FF2B5EF4-FFF2-40B4-BE49-F238E27FC236}">
                <a16:creationId xmlns:a16="http://schemas.microsoft.com/office/drawing/2014/main" id="{F4CACF59-26F8-440E-9574-47AA36BC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288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附件理解</a:t>
            </a:r>
          </a:p>
        </p:txBody>
      </p:sp>
      <p:sp>
        <p:nvSpPr>
          <p:cNvPr id="8" name="在授权范围内理解图片资料，&#10;区分附件内容、用户自述与待核查信息。">
            <a:extLst xmlns:a="http://schemas.openxmlformats.org/drawingml/2006/main">
              <a:ext uri="{FF2B5EF4-FFF2-40B4-BE49-F238E27FC236}">
                <a16:creationId xmlns:a16="http://schemas.microsoft.com/office/drawing/2014/main" id="{B46E7102-3454-4A31-834B-F02F5DCF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795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在授权范围内理解图片资料，</a:t>
            </a:r>
          </a:p>
          <a:p xmlns:a="http://schemas.openxmlformats.org/drawingml/2006/main">
            <a: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区分附件内容、用户自述与待核查信息。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2C815E-1396-4A81-B9A1-B9E5F62C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38325"/>
            <a:ext cx="5286375" cy="1666875"/>
          </a:xfrm>
          <a:prstGeom xmlns:a="http://schemas.openxmlformats.org/drawingml/2006/main" prst="roundRect">
            <a:avLst>
              <a:gd name="adj" fmla="val 457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90A9D"/>
            </a:solidFill>
            <a:prstDash val="solid"/>
          </a:ln>
        </p:spPr>
      </p:sp>
      <p:sp>
        <p:nvSpPr>
          <p:cNvPr id="10" name="人工接待试用">
            <a:extLst xmlns:a="http://schemas.openxmlformats.org/drawingml/2006/main">
              <a:ext uri="{FF2B5EF4-FFF2-40B4-BE49-F238E27FC236}">
                <a16:creationId xmlns:a16="http://schemas.microsoft.com/office/drawing/2014/main" id="{FCB98BE8-83B4-4077-867E-E66EDD99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00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人工接待试用</a:t>
            </a:r>
          </a:p>
        </p:txBody>
      </p:sp>
      <p:sp>
        <p:nvSpPr>
          <p:cNvPr id="11" name="观察客服如何修改建议，&#10;记录重复询问、处理用时与拒绝原因。">
            <a:extLst xmlns:a="http://schemas.openxmlformats.org/drawingml/2006/main">
              <a:ext uri="{FF2B5EF4-FFF2-40B4-BE49-F238E27FC236}">
                <a16:creationId xmlns:a16="http://schemas.microsoft.com/office/drawing/2014/main" id="{05B52A24-9AAD-4355-BF5D-C5723F62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2915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观察客服如何修改建议，</a:t>
            </a:r>
          </a:p>
          <a:p xmlns:a="http://schemas.openxmlformats.org/drawingml/2006/main">
            <a: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记录重复询问、处理用时与拒绝原因。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B8C35C-3D10-415E-8995-E9E86D46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9525"/>
            <a:ext cx="5286375" cy="1666875"/>
          </a:xfrm>
          <a:prstGeom xmlns:a="http://schemas.openxmlformats.org/drawingml/2006/main" prst="roundRect">
            <a:avLst>
              <a:gd name="adj" fmla="val 457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90A9D"/>
            </a:solidFill>
            <a:prstDash val="solid"/>
          </a:ln>
        </p:spPr>
      </p:sp>
      <p:sp>
        <p:nvSpPr>
          <p:cNvPr id="13" name="平台适配">
            <a:extLst xmlns:a="http://schemas.openxmlformats.org/drawingml/2006/main">
              <a:ext uri="{FF2B5EF4-FFF2-40B4-BE49-F238E27FC236}">
                <a16:creationId xmlns:a16="http://schemas.microsoft.com/office/drawing/2014/main" id="{BE23D352-7991-4B76-A6E8-16AEF634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0025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defRPr>
            </a:pPr>
            <a:r>
              <a:rPr sz="2250" b="1">
                <a:solidFill>
                  <a:srgbClr val="790A9D"/>
                </a:solidFill>
                <a:latin typeface="思源黑体 CN Bold"/>
                <a:ea typeface="思源黑体 CN Bold"/>
                <a:cs typeface="思源黑体 CN Bold"/>
              </a:rPr>
              <a:t>平台适配</a:t>
            </a:r>
          </a:p>
        </p:txBody>
      </p:sp>
      <p:sp>
        <p:nvSpPr>
          <p:cNvPr id="14" name="接入更多订单与售后字段，&#10;保留时点约束和人工审核边界。">
            <a:extLst xmlns:a="http://schemas.openxmlformats.org/drawingml/2006/main">
              <a:ext uri="{FF2B5EF4-FFF2-40B4-BE49-F238E27FC236}">
                <a16:creationId xmlns:a16="http://schemas.microsoft.com/office/drawing/2014/main" id="{769A521F-3588-4476-9554-94B3C8901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2915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接入更多订单与售后字段，</a:t>
            </a:r>
          </a:p>
          <a:p xmlns:a="http://schemas.openxmlformats.org/drawingml/2006/main">
            <a:pPr>
              <a:def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defRPr>
            </a:pPr>
            <a:r>
              <a:rPr sz="2100" b="0">
                <a:solidFill>
                  <a:srgbClr val="2F2F2F"/>
                </a:solidFill>
                <a:latin typeface="思源黑体 CN Light"/>
                <a:ea typeface="思源黑体 CN Light"/>
                <a:cs typeface="思源黑体 CN Light"/>
              </a:rPr>
              <a:t>保留时点约束和人工审核边界。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FD3528-D4A3-4BC5-B535-A747FD5F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9525"/>
            <a:ext cx="5286375" cy="1666875"/>
          </a:xfrm>
          <a:prstGeom xmlns:a="http://schemas.openxmlformats.org/drawingml/2006/main" prst="roundRect">
            <a:avLst>
              <a:gd name="adj" fmla="val 4571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790A9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8988609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C98B6E0-9DC9-467D-A04A-7449E0F7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" y="2659198"/>
            <a:ext cx="12190507" cy="18621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bg1"/>
                </a:solidFill>
                <a:latin typeface="思源黑体 CN Light"/>
                <a:ea typeface="思源黑体 CN Light"/>
                <a:cs typeface="思源黑体 CN Ligh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bg1"/>
                </a:solidFill>
                <a:latin typeface="思源黑体 CN Light"/>
                <a:ea typeface="思源黑体 CN Light"/>
                <a:cs typeface="思源黑体 CN Ligh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bg1"/>
                </a:solidFill>
                <a:latin typeface="思源黑体 CN Light"/>
                <a:ea typeface="思源黑体 CN Light"/>
                <a:cs typeface="思源黑体 CN Ligh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bg1"/>
                </a:solidFill>
                <a:latin typeface="思源黑体 CN Light"/>
                <a:ea typeface="思源黑体 CN Light"/>
                <a:cs typeface="思源黑体 CN Ligh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bg1"/>
                </a:solidFill>
                <a:latin typeface="思源黑体 CN Light"/>
                <a:ea typeface="思源黑体 CN Light"/>
                <a:cs typeface="思源黑体 CN Ligh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 defTabSz="967740">
              <a:spcBef>
                <a:spcPts val="1060"/>
              </a:spcBef>
              <a:buNone/>
            </a:pPr>
            <a:r>
              <a:rPr sz="7200" b="1" i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>  THANKS</a:t>
            </a:r>
            <a:r>
              <a:rPr sz="7200" b="1" i="1">
                <a:solidFill>
                  <a:srgbClr val="FFFFFF"/>
                </a:solidFill>
                <a:latin typeface="思源黑体 CN Bold"/>
                <a:ea typeface="思源黑体 CN Bold"/>
                <a:cs typeface="思源黑体 CN Bold"/>
              </a:rPr>
              <a:t>！</a:t>
            </a:r>
            <a:endParaRPr sz="7200" b="1" i="1">
              <a:solidFill>
                <a:srgbClr val="FFFFFF"/>
              </a:solidFill>
              <a:latin typeface="思源黑体 CN Bold"/>
              <a:ea typeface="思源黑体 CN Bold"/>
              <a:cs typeface="思源黑体 CN Bold"/>
            </a:endParaRPr>
          </a:p>
        </p:txBody>
      </p:sp>
    </p:spTree>
    <p:extLst>
      <p:ext uri="{BB962C8B-B14F-4D97-AF65-F5344CB8AC3E}">
        <p14:creationId xmlns:p14="http://schemas.microsoft.com/office/powerpoint/2010/main" val="156226795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2026-10-16T11:37:13.1140000Z</dcterms:created>
  <dcterms:modified xsi:type="dcterms:W3CDTF">2026-10-16T11:37:13.1140000Z</dcterms:modified>
</coreProperties>
</file>