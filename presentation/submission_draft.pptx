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作品背景与场景洞察" id="{a09077f8-824d-046d-360c-c3de32103655}">
          <p14:sldIdLst>
            <p14:sldId id="256"/>
            <p14:sldId id="257"/>
            <p14:sldId id="258"/>
            <p14:sldId id="259"/>
          </p14:sldIdLst>
        </p14:section>
        <p14:section name="技术方案" id="{4e2aa25a-41c7-912c-fa28-6c8e52edcf49}">
          <p14:sldIdLst>
            <p14:sldId id="260"/>
            <p14:sldId id="261"/>
            <p14:sldId id="262"/>
            <p14:sldId id="263"/>
          </p14:sldIdLst>
        </p14:section>
        <p14:section name="核心功能演示" id="{e36846ed-072a-ebc0-206b-524c935be83f}">
          <p14:sldIdLst>
            <p14:sldId id="264"/>
            <p14:sldId id="265"/>
            <p14:sldId id="266"/>
          </p14:sldIdLst>
        </p14:section>
        <p14:section name="落地价值" id="{e1fe7769-457b-cee2-d0ca-2859ff5b3a13}">
          <p14:sldIdLst>
            <p14:sldId id="267"/>
            <p14:sldId id="268"/>
            <p14:sldId id="269"/>
          </p14:sldIdLst>
        </p14:section>
        <p14:section name="未来规划" id="{ec62c91b-00aa-0ead-7576-6125957dcb49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作品定位是美妆电商的人工客服辅助工具。正文依次介绍作品背景与场景洞察、技术方案、核心功能演示、落地价值及未来规划。应用生成建议和人工任务，不执行真实退款或发送客户消息。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背景来自用户提供的赛题要求，见docs/CONTEST_BRIEF.md。没有新增市场规模、真实客诉率或人效数据。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场景来源：evaluation/results/mainline_accuracy_ui_20261014/rehearsal/rehearsal.json。退款案例S00381的分析时点为2026-05-19 15:44:33。举报案例S00076的分析时点为2026-05-08 15:53:44。正文为原案例概述，不是新采集的真实消费者数据。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这页说明本作品在客服场景中的具体设计取舍，不声称这些机制是行业首创，也不把所有聊天机器人概括为只有单轮问答。能力依据见实际LangGraph工作流、时点隔离和两场景彩排。没有推算真实人工节省比例。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现路径：src/orchestration/workbench_workflow.py、src/agents/assist_agent.py、src/ops/case_store.py。节点输入输出、工具和异常处理见docs/AGENT_DESIGN.md，可作为决赛设计材料。Verify节点补充证据和复核任务，文本与业务声明校验发生在Draft调用的AssistAgent中。人工审核在应用接口另存，未使用LangGraph interrupt或持久化checkpoint。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数量来源：data/contest/manifest.json及/api/sessions。工单数量为24+13+15+10+18=80。时点隔离实现见src/data/contest_data.py。S00381工单创建时间16:26:33晚于15:44:33，历史回放排除该记录。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实现见src/agents/intent_agent.py、emotion_agent.py、assist_agent.py及src/risk/beauty_risk_rules.py。分类分数为启发式分，不是校准概率。低置信意图条件字段t与回复共用一次模型请求，不新增独立分类调用。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现见src/models/qwen_wrapper.py、src/knowledge/business_claims.py、service_guidance.py、src/optimization/smart_cache.py及evidence_routing.py。限用证据路径需满足严格条件，缓存命中仍执行本次风险检查。字段结构有效或规则无检出都不能代表完整语义正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来源：evaluation/results/mainline_accuracy_ui_20261014/rehearsal/02_refund_draft.png。左侧保留完整原图，右侧放大同图辅助区，内容未改写。历史回放排除未来工单，沟通重点提醒等待结果及其原话依据。退款结果仍需人工核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截图来源：evaluation/results/mainline_accuracy_ui_20261014/rehearsal/03_review_and_followup.png。rehearsal.json记录编辑采纳、任务认领和生命周期的操作通过。应用未向买家发送消息，演示任务完成也不修改商家退款状态。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截图来源：evaluation/results/mainline_accuracy_ui_20261014/rehearsal/06_risk_owned.png。场景S00076，消息92900836378476.PNM，2026-05-08 15:53:44。原句是条件式举报表达。系统预警并认领人工任务，不把消费者认定为违规，不判定假货，不提前关闭未核实事项。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这页陈述预期落地价值及支持它的已实现机制，不声称已测得真实线上收益。H的20条任务级效率计时记录不完整，不能报告人工节省比例。适合先在人工审核模式开展小范围业务试点。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compact-v9-item-issues-2测量来自evaluation/results/mainline_accuracy_release_20261014_final/，输入6783、输出1573、总8356Token，系统中位2834.98ms、最大3685.6ms。原始用量及首遍输出保留。历史CPU/GPU来自gpu_pair_20261013.json，固定同一V7提示，3案例交替两轮各6次；GPU首次较慢样本保留。历史协议节约来自accuracy_cost_paired_20261009.json，总16368→15364，减少6.13%。提示和设备共同变化的完整复测不作单因素归因，小样本不代表生产SLA、完整成本或人工效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348项软件证据与12例输出在evaluation/results/mainline_accuracy_release_20261014_final/，30条完整工作流在mainline_frozen_assistance_20261014_final/。最终意图由V8的21/30提升至27/30、Macro-F1约0.6176；基础情绪21/30约0.6511、风险27/30未提高。原标签未改，样本已参与开发，只是事后回归。规则意图26/30、混合情绪11/30另列，不混算。三条不适安全下限高于旧中级标签，高风险正例0，召回不可计算。本人于2026-10-15明确确认8条原V9可见草稿可用、4条改后认可，复核收尾完成。已看自动检查意见，非独立盲测；4条助手改稿不是原模型输出，也未硬编码到默认生成逻辑。原稿10条16处系统修正留存，最终规则无检出不代表独立正确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未来安排没有确定截止时间或量化收益承诺。当前使用本地Qwen3:8b文本模型，图片理解、真实品牌知识库、生产鉴权和平台接口还未完成。先在人工审核模式开展试点，再根据效果决定接入范围。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68680"/>
            <a:ext cx="128016" cy="4434840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" y="1874520"/>
            <a:ext cx="9692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美妆客服共情副驾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124712" y="2907792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B6DC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辅助人工客服核对证据、回应困扰、持续跟进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24712" y="517550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C4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赛题一：数据共情者 - 消费者的AI管家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4712" y="566928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C4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初赛作品展示，使用赛题虚构业务数据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一次接待，要查几套记录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美妆电商的订单、聊天和售后记录分散，客服难以快速还原经过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作品背景与场景洞察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33832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28800"/>
            <a:ext cx="64008" cy="3337560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00253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记录分散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" y="2560320"/>
            <a:ext cx="2926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聊天、订单和售后工单需要来回查。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同一个问题可能反复询问订单信息。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3832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828800"/>
            <a:ext cx="64008" cy="3337560"/>
          </a:xfrm>
          <a:prstGeom prst="rect">
            <a:avLst/>
          </a:prstGeom>
          <a:solidFill>
            <a:srgbClr val="D09A5C"/>
          </a:solidFill>
          <a:ln w="12700">
            <a:solidFill>
              <a:srgbClr val="D09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00253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09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建议缺少依据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17720" y="2560320"/>
            <a:ext cx="2926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肤质担忧、退款焦急和产品疑虑需要不同回应。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模板回复很难解释具体处理路径。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38160" y="1828800"/>
            <a:ext cx="33832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828800"/>
            <a:ext cx="64008" cy="3337560"/>
          </a:xfrm>
          <a:prstGeom prst="rect">
            <a:avLst/>
          </a:prstGeom>
          <a:solidFill>
            <a:srgbClr val="C66257"/>
          </a:solidFill>
          <a:ln w="12700">
            <a:solidFill>
              <a:srgbClr val="C662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00253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风险跟踪断开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66760" y="2560320"/>
            <a:ext cx="2926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举报、重复进线等异常出现后，需要保留核查事项和处理状态。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" y="5413248"/>
            <a:ext cx="10863072" cy="731520"/>
          </a:xfrm>
          <a:prstGeom prst="rect">
            <a:avLst/>
          </a:prstGeom>
          <a:solidFill>
            <a:srgbClr val="DCECE7"/>
          </a:solidFill>
          <a:ln w="12700">
            <a:solidFill>
              <a:srgbClr val="DCE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5522976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设计围绕客服实际接待：把相关记录放在一起，给出可审核的回复，再持续跟进。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先听清问题，再确定查什么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退款受阻与真伪疑虑，取自赛题虚构数据的两个操作场景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作品背景与场景洞察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5175504" cy="3346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28800"/>
            <a:ext cx="64008" cy="3346704"/>
          </a:xfrm>
          <a:prstGeom prst="rect">
            <a:avLst/>
          </a:prstGeom>
          <a:solidFill>
            <a:srgbClr val="D09A5C"/>
          </a:solidFill>
          <a:ln w="12700">
            <a:solidFill>
              <a:srgbClr val="D09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002536"/>
            <a:ext cx="4764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09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退货后退款受阻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" y="2560320"/>
            <a:ext cx="471830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消费者反馈仓库签收了退货，售后却关闭，钱退不出来。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客服要查入库、关闭原因和退款流水，回复先回应等待中的焦急。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55080" y="1828800"/>
            <a:ext cx="5166360" cy="3346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828800"/>
            <a:ext cx="64008" cy="3346704"/>
          </a:xfrm>
          <a:prstGeom prst="rect">
            <a:avLst/>
          </a:prstGeom>
          <a:solidFill>
            <a:srgbClr val="C66257"/>
          </a:solidFill>
          <a:ln w="12700">
            <a:solidFill>
              <a:srgbClr val="C662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00253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真伪疑虑升级举报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83680" y="2560320"/>
            <a:ext cx="470916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消费者提供批次号，并表示查不出来就去平台举报。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客服要核规格、批次和渠道依据，把持续核查交给人工任务。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" y="5413248"/>
            <a:ext cx="10863072" cy="731520"/>
          </a:xfrm>
          <a:prstGeom prst="rect">
            <a:avLst/>
          </a:prstGeom>
          <a:solidFill>
            <a:srgbClr val="DCECE7"/>
          </a:solidFill>
          <a:ln w="12700">
            <a:solidFill>
              <a:srgbClr val="DCE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5522976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处理建议需要同时说明当前问题、已有依据和还要查什么。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客服需要的是依据和下一步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相关记录集中看，历史状态按时点核对，未完成事项继续跟进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作品背景与场景洞察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33832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28800"/>
            <a:ext cx="64008" cy="3337560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00253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三源证据放在一起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" y="2560320"/>
            <a:ext cx="2926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聊天解释消费者诉求，订单和工单提供业务依据。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消费者自述与后台字段分别保留，已有信息直接沿用。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3832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828800"/>
            <a:ext cx="64008" cy="3337560"/>
          </a:xfrm>
          <a:prstGeom prst="rect">
            <a:avLst/>
          </a:prstGeom>
          <a:solidFill>
            <a:srgbClr val="D09A5C"/>
          </a:solidFill>
          <a:ln w="12700">
            <a:solidFill>
              <a:srgbClr val="D09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00253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09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分析时点明确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17720" y="2560320"/>
            <a:ext cx="2926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后来产生的工单不提前用于历史建议。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不能还原的状态标为未知，不把后续处理写成当时已完成。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38160" y="1828800"/>
            <a:ext cx="33832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828800"/>
            <a:ext cx="64008" cy="3337560"/>
          </a:xfrm>
          <a:prstGeom prst="rect">
            <a:avLst/>
          </a:prstGeom>
          <a:solidFill>
            <a:srgbClr val="C66257"/>
          </a:solidFill>
          <a:ln w="12700">
            <a:solidFill>
              <a:srgbClr val="C662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00253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核查持续到任务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66760" y="2560320"/>
            <a:ext cx="2926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风险先登记，再等待建议生成。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客服审核、认领和记录处置，未完成事项继续跟踪。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" y="5413248"/>
            <a:ext cx="10863072" cy="731520"/>
          </a:xfrm>
          <a:prstGeom prst="rect">
            <a:avLst/>
          </a:prstGeom>
          <a:solidFill>
            <a:srgbClr val="DCECE7"/>
          </a:solidFill>
          <a:ln w="12700">
            <a:solidFill>
              <a:srgbClr val="DCE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5522976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产品重点是服务证据和人工处置流程，开源模型负责生成可审核的辅助建议。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从业务证据到人工审核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Flask工作台，本地Qwen3:8b生成建议，LangGraph编排，SQLite保存操作记录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847088"/>
            <a:ext cx="1967789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47672"/>
            <a:ext cx="16386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176272"/>
            <a:ext cx="16386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多源证据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882189" y="1847088"/>
            <a:ext cx="1967789" cy="1115568"/>
          </a:xfrm>
          <a:prstGeom prst="rect">
            <a:avLst/>
          </a:prstGeom>
          <a:solidFill>
            <a:srgbClr val="DCECE7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6781" y="1947672"/>
            <a:ext cx="16386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46781" y="2176272"/>
            <a:ext cx="16386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风险检查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106010" y="1847088"/>
            <a:ext cx="1967789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0602" y="1947672"/>
            <a:ext cx="16386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70602" y="2176272"/>
            <a:ext cx="16386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Draft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建议生成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329830" y="1847088"/>
            <a:ext cx="1967789" cy="1115568"/>
          </a:xfrm>
          <a:prstGeom prst="rect">
            <a:avLst/>
          </a:prstGeom>
          <a:solidFill>
            <a:srgbClr val="DCECE7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4422" y="1947672"/>
            <a:ext cx="16386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4422" y="2176272"/>
            <a:ext cx="16386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关联复核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553651" y="1847088"/>
            <a:ext cx="1967789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18243" y="1947672"/>
            <a:ext cx="16386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718243" y="2176272"/>
            <a:ext cx="16386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结果留存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58368" y="3657600"/>
            <a:ext cx="5175504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3657600"/>
            <a:ext cx="64008" cy="1682496"/>
          </a:xfrm>
          <a:prstGeom prst="rect">
            <a:avLst/>
          </a:prstGeom>
          <a:solidFill>
            <a:srgbClr val="C66257"/>
          </a:solidFill>
          <a:ln w="12700">
            <a:solidFill>
              <a:srgbClr val="C662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3831336"/>
            <a:ext cx="4764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风险先登记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86968" y="4389120"/>
            <a:ext cx="47183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Safety节点先保存风险任务，再进入可选的知识检索和模型生成。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55080" y="3657600"/>
            <a:ext cx="516636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3657600"/>
            <a:ext cx="64008" cy="1682496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83133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人工审核另存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583680" y="4389120"/>
            <a:ext cx="4709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客服编辑、采纳或拒绝建议。回复原稿与任务历史可查询。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58368" y="5504688"/>
            <a:ext cx="10863072" cy="731520"/>
          </a:xfrm>
          <a:prstGeom prst="rect">
            <a:avLst/>
          </a:prstGeom>
          <a:solidFill>
            <a:srgbClr val="DCECE7"/>
          </a:solidFill>
          <a:ln w="12700">
            <a:solidFill>
              <a:srgbClr val="DCE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5614416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模型输出摘要、情绪、风险、证据ID、待核项、回复草稿和下一步。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把三源记录放回同一个服务时点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导入138个虚构会话、998条消息、113笔订单和80张工单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847088"/>
            <a:ext cx="1967789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47672"/>
            <a:ext cx="16386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176272"/>
            <a:ext cx="16386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当前买家消息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882189" y="1847088"/>
            <a:ext cx="1967789" cy="1115568"/>
          </a:xfrm>
          <a:prstGeom prst="rect">
            <a:avLst/>
          </a:prstGeom>
          <a:solidFill>
            <a:srgbClr val="DCECE7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6781" y="1947672"/>
            <a:ext cx="16386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46781" y="2176272"/>
            <a:ext cx="16386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历史对话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106010" y="1847088"/>
            <a:ext cx="1967789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0602" y="1947672"/>
            <a:ext cx="16386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70602" y="2176272"/>
            <a:ext cx="16386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订单记录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329830" y="1847088"/>
            <a:ext cx="1967789" cy="1115568"/>
          </a:xfrm>
          <a:prstGeom prst="rect">
            <a:avLst/>
          </a:prstGeom>
          <a:solidFill>
            <a:srgbClr val="DCECE7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4422" y="1947672"/>
            <a:ext cx="16386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4422" y="2176272"/>
            <a:ext cx="16386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售后工单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553651" y="1847088"/>
            <a:ext cx="1967789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18243" y="1947672"/>
            <a:ext cx="16386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718243" y="2176272"/>
            <a:ext cx="16386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关联证据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58368" y="3657600"/>
            <a:ext cx="517550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3657600"/>
            <a:ext cx="64008" cy="1719072"/>
          </a:xfrm>
          <a:prstGeom prst="rect">
            <a:avLst/>
          </a:prstGeom>
          <a:solidFill>
            <a:srgbClr val="D09A5C"/>
          </a:solidFill>
          <a:ln w="12700">
            <a:solidFill>
              <a:srgbClr val="D09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3831336"/>
            <a:ext cx="4764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09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附件快照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86968" y="4389120"/>
            <a:ext cx="4718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展示赛题附件提供的业务字段。快照状态还需核实是否适用于当前问题。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55080" y="3657600"/>
            <a:ext cx="51663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3657600"/>
            <a:ext cx="64008" cy="17190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83133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历史回放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583680" y="4389120"/>
            <a:ext cx="4709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排除分析时点之后的消息和工单。不能还原的历史状态明确标为未知。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58368" y="5504688"/>
            <a:ext cx="10863072" cy="731520"/>
          </a:xfrm>
          <a:prstGeom prst="rect">
            <a:avLst/>
          </a:prstGeom>
          <a:solidFill>
            <a:srgbClr val="DCECE7"/>
          </a:solidFill>
          <a:ln w="12700">
            <a:solidFill>
              <a:srgbClr val="DCE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5614416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脱敏昵称仅提供关联候选，人工填写依据后才合并跨会话轨迹。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当前诉求、情绪和风险分别判断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明确请求先识别，模糊意图由同一次模型生成补判，基础情绪与场景标签分开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5175504" cy="3328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28800"/>
            <a:ext cx="64008" cy="3328416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002536"/>
            <a:ext cx="4764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当前诉求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" y="2560320"/>
            <a:ext cx="4718304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商品少件、损坏不被物流词带偏。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拒绝的旧诉求不再驱动处理焦点，保留没有赠品、退款没到账等真实缺失。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规则结论、模型结论和采用来源分别留存。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55080" y="1828800"/>
            <a:ext cx="5166360" cy="3328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828800"/>
            <a:ext cx="64008" cy="3328416"/>
          </a:xfrm>
          <a:prstGeom prst="rect">
            <a:avLst/>
          </a:prstGeom>
          <a:solidFill>
            <a:srgbClr val="C66257"/>
          </a:solidFill>
          <a:ln w="12700">
            <a:solidFill>
              <a:srgbClr val="C662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00253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沟通重点与服务风险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83680" y="2560320"/>
            <a:ext cx="470916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基础情绪与场景标签分开；礼貌致谢不等于满意。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沿用已给资料和自述肤质，原话来源可展开。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实际不适按独立安全规则优先人工处理。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" y="5413248"/>
            <a:ext cx="10863072" cy="731520"/>
          </a:xfrm>
          <a:prstGeom prst="rect">
            <a:avLst/>
          </a:prstGeom>
          <a:solidFill>
            <a:srgbClr val="DCECE7"/>
          </a:solidFill>
          <a:ln w="12700">
            <a:solidFill>
              <a:srgbClr val="DCE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5522976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风险规则下限不会由模型降低。系统给出服务优先级，医疗和商品真伪由人工核查。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检查草稿，也控制重复调用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结构化生成后核对业务声明，精确重复请求使用按版本隔离的缓存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792224"/>
            <a:ext cx="5175504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792224"/>
            <a:ext cx="64008" cy="1755648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965960"/>
            <a:ext cx="4764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结构与事实校验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" y="2523744"/>
            <a:ext cx="4718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Schema约束字段，Pydantic检查结构。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金额、状态、来源和未执行承诺再做业务核对。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55080" y="1792224"/>
            <a:ext cx="51663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792224"/>
            <a:ext cx="64008" cy="1755648"/>
          </a:xfrm>
          <a:prstGeom prst="rect">
            <a:avLst/>
          </a:prstGeom>
          <a:solidFill>
            <a:srgbClr val="C66257"/>
          </a:solidFill>
          <a:ln w="12700">
            <a:solidFill>
              <a:srgbClr val="C662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96596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原稿与修正留证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83680" y="2523744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未核实的批次、包装和运输原因需修正。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未知证据移除时记录原因，客服可查看前后文本。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" y="3749040"/>
            <a:ext cx="5175504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749040"/>
            <a:ext cx="64008" cy="1755648"/>
          </a:xfrm>
          <a:prstGeom prst="rect">
            <a:avLst/>
          </a:prstGeom>
          <a:solidFill>
            <a:srgbClr val="D09A5C"/>
          </a:solidFill>
          <a:ln w="12700">
            <a:solidFill>
              <a:srgbClr val="D09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922776"/>
            <a:ext cx="4764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09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短协议与精确缓存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86968" y="4480560"/>
            <a:ext cx="4718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紧凑字段和360 Token单次输出上限。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缓存按提示版本、模型和运行配置隔离。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55080" y="3749040"/>
            <a:ext cx="51663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3749040"/>
            <a:ext cx="64008" cy="1755648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92277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限用证据路径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583680" y="4480560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明确问候、无争议单订单发货查询可不用模型。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风险、负面情绪、历史争议和混合问题继续完整分析。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退款受阻：先核记录，再回应等待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S00381，2026-05-19 15:44:33，先展示三源记录，再切换历史回放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核心功能演示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15</a:t>
            </a:r>
            <a:endParaRPr lang="en-US" sz="900" dirty="0"/>
          </a:p>
        </p:txBody>
      </p:sp>
      <p:pic>
        <p:nvPicPr>
          <p:cNvPr id="8" name="Image 0" descr="E:\1jingsai\欧莱美\customer-service-beauty\evaluation\results\mainline_accuracy_ui_20261014\rehearsal\02_refund_dra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306" y="1709928"/>
            <a:ext cx="7066483" cy="44165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94192" y="16367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辅助区局部放大</a:t>
            </a:r>
            <a:endParaRPr lang="en-US" sz="1800" dirty="0"/>
          </a:p>
        </p:txBody>
      </p:sp>
      <p:pic>
        <p:nvPicPr>
          <p:cNvPr id="10" name="Image 1" descr="E:\1jingsai\欧莱美\customer-service-beauty\evaluation\results\mainline_accuracy_ui_20261014\rehearsal\02_refund_draft.png">    </p:cNvPr>
          <p:cNvPicPr>
            <a:picLocks noChangeAspect="1"/>
          </p:cNvPicPr>
          <p:nvPr/>
        </p:nvPicPr>
        <p:blipFill>
          <a:blip r:embed="rId2"/>
          <a:srcRect l="76875" r="0" t="13000" b="45000"/>
          <a:stretch/>
        </p:blipFill>
        <p:spPr>
          <a:xfrm>
            <a:off x="8394192" y="2271048"/>
            <a:ext cx="3063240" cy="34771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94192" y="590702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同一原图裁切，内容未改写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客服审核草稿，认领待核事项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保存修改和采纳决定，任务的负责人、处置备注和状态历史可查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核心功能演示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15</a:t>
            </a:r>
            <a:endParaRPr lang="en-US" sz="900" dirty="0"/>
          </a:p>
        </p:txBody>
      </p:sp>
      <p:pic>
        <p:nvPicPr>
          <p:cNvPr id="8" name="Image 0" descr="E:\1jingsai\欧莱美\customer-service-beauty\evaluation\results\mainline_accuracy_ui_20261014\rehearsal\03_review_and_follow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209" y="1508760"/>
            <a:ext cx="7256678" cy="45354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94192" y="19202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审核回复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394192" y="2496312"/>
            <a:ext cx="30632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编辑草稿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采纳或拒绝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保存修改内容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394192" y="390448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09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任务跟进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394192" y="4489704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认领待核事项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记录备注及状态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保留操作历史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举报预警后，问题交给谁跟进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S00076的举报表达触发人工跟进，看板显示已认领和处理中状态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核心功能演示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15</a:t>
            </a:r>
            <a:endParaRPr lang="en-US" sz="900" dirty="0"/>
          </a:p>
        </p:txBody>
      </p:sp>
      <p:pic>
        <p:nvPicPr>
          <p:cNvPr id="8" name="Image 0" descr="E:\1jingsai\欧莱美\customer-service-beauty\evaluation\results\mainline_accuracy_ui_20261014\rehearsal\06_risk_ow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6434" y="1508760"/>
            <a:ext cx="6123779" cy="45354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08592" y="199339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定位与处置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308592" y="2688336"/>
            <a:ext cx="22128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预警定位会话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返回证据与记录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人工认领核查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保持处理中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308592" y="509320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商品真假尚未核实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少查一遍记录，少问一次已有信息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价值来自已实现的接待操作，真实客服提效仍需试点测量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落地价值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33832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28800"/>
            <a:ext cx="64008" cy="3337560"/>
          </a:xfrm>
          <a:prstGeom prst="rect">
            <a:avLst/>
          </a:prstGeom>
          <a:solidFill>
            <a:srgbClr val="D09A5C"/>
          </a:solidFill>
          <a:ln w="12700">
            <a:solidFill>
              <a:srgbClr val="D09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00253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09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" y="2560320"/>
            <a:ext cx="2926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客服沿用已提供的信息，回应当前困扰。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核查对象和下一步说明更具体，减少反复解释。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3832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828800"/>
            <a:ext cx="64008" cy="3337560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00253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一线客服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17720" y="2560320"/>
            <a:ext cx="2926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集中查看订单与工单。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从空白回复转为审核草稿，按待核项继续处理。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38160" y="1828800"/>
            <a:ext cx="33832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828800"/>
            <a:ext cx="64008" cy="3337560"/>
          </a:xfrm>
          <a:prstGeom prst="rect">
            <a:avLst/>
          </a:prstGeom>
          <a:solidFill>
            <a:srgbClr val="C66257"/>
          </a:solidFill>
          <a:ln w="12700">
            <a:solidFill>
              <a:srgbClr val="C662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00253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服务管理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66760" y="2560320"/>
            <a:ext cx="2926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风险能回到会话和证据。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处理人、备注与历史状态可查，未完成事项持续跟踪。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" y="5413248"/>
            <a:ext cx="10863072" cy="731520"/>
          </a:xfrm>
          <a:prstGeom prst="rect">
            <a:avLst/>
          </a:prstGeom>
          <a:solidFill>
            <a:srgbClr val="DCECE7"/>
          </a:solidFill>
          <a:ln w="12700">
            <a:solidFill>
              <a:srgbClr val="DCE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5522976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当前证据为MOCK流程验证，真实客服人效和用户满意度仍需业务试点测量。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调用成本和等待时间分别测量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当前完整工作流与历史协议、设备交替对照分开报告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落地价值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2011680"/>
            <a:ext cx="336499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011680"/>
            <a:ext cx="64008" cy="2615184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185416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GPU响应中位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" y="2743200"/>
            <a:ext cx="290779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2779776"/>
            <a:ext cx="2834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3.82秒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96112" y="382219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17.18秒；3案例各2轮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16552" y="2011680"/>
            <a:ext cx="336499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16552" y="2011680"/>
            <a:ext cx="64008" cy="2615184"/>
          </a:xfrm>
          <a:prstGeom prst="rect">
            <a:avLst/>
          </a:prstGeom>
          <a:solidFill>
            <a:srgbClr val="D09A5C"/>
          </a:solidFill>
          <a:ln w="12700">
            <a:solidFill>
              <a:srgbClr val="D09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185416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09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当前12例系统中位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645152" y="2743200"/>
            <a:ext cx="290779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54296" y="2779776"/>
            <a:ext cx="2834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09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2.83秒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654296" y="382219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11次生成 + 1次证据路径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74736" y="2011680"/>
            <a:ext cx="336499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74736" y="2011680"/>
            <a:ext cx="64008" cy="2615184"/>
          </a:xfrm>
          <a:prstGeom prst="rect">
            <a:avLst/>
          </a:prstGeom>
          <a:solidFill>
            <a:srgbClr val="C66257"/>
          </a:solidFill>
          <a:ln w="12700">
            <a:solidFill>
              <a:srgbClr val="C662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03336" y="2185416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历史协议Token节约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403336" y="2743200"/>
            <a:ext cx="290779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12480" y="2779776"/>
            <a:ext cx="2834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6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-6.13%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8412480" y="382219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10月9日44次交替请求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" y="5074920"/>
            <a:ext cx="10863072" cy="731520"/>
          </a:xfrm>
          <a:prstGeom prst="rect">
            <a:avLst/>
          </a:prstGeom>
          <a:solidFill>
            <a:srgbClr val="DCECE7"/>
          </a:solidFill>
          <a:ln w="12700">
            <a:solidFill>
              <a:srgbClr val="DCE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5184648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当前12例8356 Token，较V8-5仅少1 Token；本轮不声称新增显著降本。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意图回归改善，情绪与风险仍有分歧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软件测试、已见标签回归和人工回复审核是三类不同证据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落地价值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5175504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28800"/>
            <a:ext cx="64008" cy="3520440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002536"/>
            <a:ext cx="4764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当前已验证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" y="2560320"/>
            <a:ext cx="47183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348 项软件回归，12 条回复复测。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条原人工标注事后回归。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最终意图21→27/30，Macro-F1约0.6176。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本人复核：8条原稿可用，4条改后认可。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原稿及系统修正分别保留。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55080" y="1828800"/>
            <a:ext cx="5166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828800"/>
            <a:ext cx="64008" cy="3520440"/>
          </a:xfrm>
          <a:prstGeom prst="rect">
            <a:avLst/>
          </a:prstGeom>
          <a:solidFill>
            <a:srgbClr val="C66257"/>
          </a:solidFill>
          <a:ln w="12700">
            <a:solidFill>
              <a:srgbClr val="C662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00253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评估边界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83680" y="2560320"/>
            <a:ext cx="4709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最终基础情绪同映射21/30。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最终风险27/30，均未提高。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规则意图26/30，混合情绪11/30。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本人已看自动检查意见，非盲评。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改稿认可不等于首轮全部正确。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高风险召回、真实人效仍未知。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" y="5504688"/>
            <a:ext cx="10863072" cy="731520"/>
          </a:xfrm>
          <a:prstGeom prst="rect">
            <a:avLst/>
          </a:prstGeom>
          <a:solidFill>
            <a:srgbClr val="DCECE7"/>
          </a:solidFill>
          <a:ln w="12700">
            <a:solidFill>
              <a:srgbClr val="DCE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5614416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规则无检出仍需要人工语义审核。当前证据支持工程原型，尚不能代表线上效果。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8A78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先补效果证据，再扩大接入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已有本人复核，后续扩大未见表达与高风险样本，再验证图片和平台接口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6345936"/>
            <a:ext cx="10863072" cy="0"/>
          </a:xfrm>
          <a:prstGeom prst="line">
            <a:avLst/>
          </a:prstGeom>
          <a:noFill/>
          <a:ln w="12700">
            <a:solidFill>
              <a:srgbClr val="DDE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190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35640" y="6419088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847088"/>
            <a:ext cx="2523744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47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1762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独立回复复核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438144" y="1847088"/>
            <a:ext cx="2523744" cy="1115568"/>
          </a:xfrm>
          <a:prstGeom prst="rect">
            <a:avLst/>
          </a:prstGeom>
          <a:solidFill>
            <a:srgbClr val="DCECE7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1947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02736" y="21762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补高风险样本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17920" y="1847088"/>
            <a:ext cx="2523744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947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82512" y="21762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图片与品牌资料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97696" y="1847088"/>
            <a:ext cx="2523744" cy="1115568"/>
          </a:xfrm>
          <a:prstGeom prst="rect">
            <a:avLst/>
          </a:prstGeom>
          <a:solidFill>
            <a:srgbClr val="DCECE7"/>
          </a:solidFill>
          <a:ln w="12700">
            <a:solidFill>
              <a:srgbClr val="238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288" y="1947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62288" y="21762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鉴权及平台接入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96112" y="37673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8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近期验证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96112" y="4443984"/>
            <a:ext cx="4663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统一意图、情绪口径，复核回复漏项和错误承诺。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补高风险正例，保存完整人工效率计时。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611112" y="37673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09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后续接入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11112" y="4443984"/>
            <a:ext cx="4663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审核品牌资料，确认字段和访问权限再接接口。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每次扩展后重跑质量回归和成本测量。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美妆客服共情副驾</dc:title>
  <dc:subject>作品背景与场景洞察、技术方案、核心功能演示、落地价值与未来规划</dc:subject>
  <dc:creator>美妆客服共情副驾</dc:creator>
  <cp:lastModifiedBy>美妆客服共情副驾</cp:lastModifiedBy>
  <cp:revision>1</cp:revision>
  <dcterms:created xsi:type="dcterms:W3CDTF">2026-10-15T07:07:52Z</dcterms:created>
  <dcterms:modified xsi:type="dcterms:W3CDTF">2026-10-15T07:07:52Z</dcterms:modified>
</cp:coreProperties>
</file>